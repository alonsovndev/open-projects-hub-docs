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a57474a-2070-8d98-9f98-36f4f079d8da}">
          <p14:sldIdLst>
            <p14:sldId id="256"/>
            <p14:sldId id="257"/>
            <p14:sldId id="258"/>
          </p14:sldIdLst>
        </p14:section>
        <p14:section name="Product" id="{79aa1e34-d9f1-0f7e-1741-673da1a946e9}">
          <p14:sldIdLst>
            <p14:sldId id="259"/>
            <p14:sldId id="260"/>
            <p14:sldId id="261"/>
          </p14:sldIdLst>
        </p14:section>
        <p14:section name="Engineering" id="{9ec088ce-9828-d821-0efc-e0cca6d92772}">
          <p14:sldIdLst>
            <p14:sldId id="262"/>
            <p14:sldId id="263"/>
            <p14:sldId id="264"/>
            <p14:sldId id="265"/>
            <p14:sldId id="266"/>
          </p14:sldIdLst>
        </p14:section>
        <p14:section name="Wrap-up" id="{b3165c87-c3a4-0e58-3b5c-c38c0aa580a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and human-controlled workflow. The pictured interface uses fictional Cedar Studio data and intercepted API responses. It illustrates the implemented UI, not a recorded live-provider response or production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client input is informal, context gets scattered, and sharing requirements safely is hard. The target users are freelancers and small teams, plus their clients, who only need read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Emphasize step 3: the human-in-the-loop review. Unapproved drafts never touch the database (ADR-019).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zoomed UI capture to explain the note-to-draft interaction and Edit, Approve and Discard controls. The screenshot uses fictional notes and mocked API responses; it does not establish a real AI result or successful approval transaction. Platform credits and personal Gemini, OpenAI or DeepSeek keys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cropped screenshot focuses on the approved story and acceptance criteria; application navigation and the Export button are outside this crop. This is a staged UI state, not backend persistence evidence. The implemented exporter uses approved stories. Tenant-owned data is scoped to the caller workspace and authorized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Review is account-free and read-only. This screenshot uses fictional data and a staged public API response. A shared project access code can be regenerated to revoke the previous code. The client reloads to fetch newly approved stories; this is not a live-push or polling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a modular monolith: eleven feature modules, each with domain, application, infrastructure and presentation layers. Dependencies point inward. The frontend follows the same feature-slice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separately fetches static web/docs assets from Workers and calls the API through the Cloudflare API proxy. HTTPS reaches Caddy, then the FastAPI container and PostgreSQL on one EC2 host in us-east-2. AI and email are runtime services. GitHub Actions only publishes the GHCR image. An engineer runs deploy-release.sh with AWS credentials, invoking SSM Run Command; host deployment reads SSM parameters and pulls the tagged image. Terraform is applied locally. Cloudflare Full encrypts the origin leg without validating the origin certificate; no automated database backups or failover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Providers are adapters behind a port. Personal keys are encrypted at rest. Unapproved drafts are stored in browser session storage so they survive reloads within the tab, but are not persisted server-side. Closing the tab loses them. Structured output parsing and sanitization reduce specific risks; they do not guarantee model accuracy or comprehensive prompt-injection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configured controls from verification outcomes. Tenant-owned queries are workspace-scoped; authentication and public review have their own access paths. The origin security group allowlists Cloudflare address ranges, not a cryptographically authenticated Cloudflare account. API CI excludes integration tests and mypy is advisory. The migration upgrade/downgrade check uses a temporary PostgreSQL database; it is not a production rollback guarantee. Web E2E is outside CI. Branch-rule enforcement and fresh hosted results were not queried.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AI-assisted development through specs, repository instructions, skills, review, and human responsibility. ADR-019 supplies a concrete documented example of human direction: the initial implementation persisted drafts in story_drafts; the product owner rejected that storage, and the design moved to browser-only drafts with approval as the save boundary. The ADR does not identify who proposed the original implementation, so do not attribute that proposal to an AI or invent a rejected AI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objectives, delivered capabilities, and the exact available evidence. Refinement/approval and client-review tests are source artifacts; this slide does not report a fresh passing run or completed user study. No time-saving, usability or model-quality result has been measured. Remaining risks include a single host without automated backups or failover, origin TLS without certificate validation, shared project access without per-stakeholder audit, advisory API type checking, excluded API integration tests, and web E2E outside CI. Source: docs/00-context/evidence-and-limitations.md.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next evaluation and hardening steps. The application and documentation links are clickable. Four separate clickable source links point directly to the API, web, infrastructure and documentation repositories. Do not include test-user credentials in this public file; provide them through the private submission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Open Projects Hub · Master's final project</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oph.alonsovndev.com"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2" Type="http://schemas.openxmlformats.org/officeDocument/2006/relationships/hyperlink" Target="https://oph.alonsovndev.com" TargetMode="External"/><Relationship Id="rId3" Type="http://schemas.openxmlformats.org/officeDocument/2006/relationships/hyperlink" Target="https://oph-docs.alonsovndev.com" TargetMode="External"/><Relationship Id="rId4" Type="http://schemas.openxmlformats.org/officeDocument/2006/relationships/hyperlink" Target="https://github.com/alonsovndev/open-projects-hub-api" TargetMode="External"/><Relationship Id="rId1" Type="http://schemas.openxmlformats.org/officeDocument/2006/relationships/image" Target="../media/image-13-1.png"/><Relationship Id="rId5" Type="http://schemas.openxmlformats.org/officeDocument/2006/relationships/slideLayout" Target="../slideLayouts/slideLayout3.xml"/><Relationship Id="rId6" Type="http://schemas.openxmlformats.org/officeDocument/2006/relationships/notesSlide" Target="../notesSlides/notesSlide13.xml"/><Relationship Id="rId7" Type="http://schemas.openxmlformats.org/officeDocument/2006/relationships/hyperlink" Target="https://github.com/alonsovndev/open-projects-hub-web" TargetMode="External"/><Relationship Id="rId8" Type="http://schemas.openxmlformats.org/officeDocument/2006/relationships/hyperlink" Target="https://github.com/alonsovndev/open-projects-hub-infra" TargetMode="External"/><Relationship Id="rId9" Type="http://schemas.openxmlformats.org/officeDocument/2006/relationships/hyperlink" Target="https://github.com/alonsovndev/open-projects-hub-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chemeClr val="bg1"/>
          </a:solidFill>
          <a:ln w="12700">
            <a:solidFill>
              <a:schemeClr val="bg1"/>
            </a:solidFill>
            <a:prstDash val="solid"/>
          </a:ln>
        </p:spPr>
      </p:sp>
      <p:pic>
        <p:nvPicPr>
          <p:cNvPr id="3" name="Image 0" descr="/private/tmp/claude-501/-Users-alonso-Documents-Workspace-Alonsovndev-OpenProjectsHub/19cdd931-d4c3-4bf1-911a-d568f533b6da/scratchpad/deck/app-logo.png">    </p:cNvPr>
          <p:cNvPicPr>
            <a:picLocks noChangeAspect="1"/>
          </p:cNvPicPr>
          <p:nvPr/>
        </p:nvPicPr>
        <p:blipFill>
          <a:blip r:embed="rId1"/>
          <a:stretch>
            <a:fillRect/>
          </a:stretch>
        </p:blipFill>
        <p:spPr>
          <a:xfrm>
            <a:off x="749808" y="749808"/>
            <a:ext cx="603504" cy="603504"/>
          </a:xfrm>
          <a:prstGeom prst="rect">
            <a:avLst/>
          </a:prstGeom>
        </p:spPr>
      </p:pic>
      <p:sp>
        <p:nvSpPr>
          <p:cNvPr id="4" name="Text 1"/>
          <p:cNvSpPr txBox="1"/>
          <p:nvPr/>
        </p:nvSpPr>
        <p:spPr>
          <a:xfrm>
            <a:off x="640080" y="1783080"/>
            <a:ext cx="5394960" cy="86868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Open Projects Hub</a:t>
            </a:r>
            <a:endParaRPr lang="en-US" sz="4400" dirty="0"/>
          </a:p>
        </p:txBody>
      </p:sp>
      <p:sp>
        <p:nvSpPr>
          <p:cNvPr id="5" name="Text 2"/>
          <p:cNvSpPr txBox="1"/>
          <p:nvPr/>
        </p:nvSpPr>
        <p:spPr>
          <a:xfrm>
            <a:off x="640080" y="2743200"/>
            <a:ext cx="5120640" cy="1188720"/>
          </a:xfrm>
          <a:prstGeom prst="rect">
            <a:avLst/>
          </a:prstGeom>
          <a:noFill/>
          <a:ln/>
        </p:spPr>
        <p:txBody>
          <a:bodyPr wrap="square" lIns="0" tIns="0" rIns="0" bIns="0" rtlCol="0" anchor="t"/>
          <a:lstStyle/>
          <a:p>
            <a:pPr indent="0" marL="0">
              <a:buNone/>
            </a:pPr>
            <a:r>
              <a:rPr lang="en-US" sz="2000" dirty="0">
                <a:solidFill>
                  <a:schemeClr val="accent2"/>
                </a:solidFill>
              </a:rPr>
              <a:t>From raw client notes to an approved, shareable backlog. AI proposes; the freelancer decides.</a:t>
            </a:r>
            <a:endParaRPr lang="en-US" sz="2000" dirty="0"/>
          </a:p>
        </p:txBody>
      </p:sp>
      <p:sp>
        <p:nvSpPr>
          <p:cNvPr id="6" name="Text 3"/>
          <p:cNvSpPr txBox="1"/>
          <p:nvPr/>
        </p:nvSpPr>
        <p:spPr>
          <a:xfrm>
            <a:off x="640080" y="4754880"/>
            <a:ext cx="5120640" cy="1097280"/>
          </a:xfrm>
          <a:prstGeom prst="rect">
            <a:avLst/>
          </a:prstGeom>
          <a:noFill/>
          <a:ln/>
        </p:spPr>
        <p:txBody>
          <a:bodyPr wrap="square" lIns="0" tIns="0" rIns="0" bIns="0" rtlCol="0" anchor="t"/>
          <a:lstStyle/>
          <a:p>
            <a:pPr indent="0" marL="0">
              <a:buNone/>
            </a:pPr>
            <a:r>
              <a:rPr lang="en-US" sz="1800" b="1" dirty="0">
                <a:solidFill>
                  <a:schemeClr val="bg1"/>
                </a:solidFill>
              </a:rPr>
              <a:t>Alonso Villanueva Naranjo</a:t>
            </a:r>
            <a:endParaRPr lang="en-US" sz="1500" dirty="0"/>
          </a:p>
          <a:p>
            <a:pPr indent="0" marL="0">
              <a:buNone/>
            </a:pPr>
            <a:r>
              <a:rPr lang="en-US" sz="1400" dirty="0">
                <a:solidFill>
                  <a:schemeClr val="bg1"/>
                </a:solidFill>
              </a:rPr>
              <a:t>Máster de Desarrollo con IA · Final project</a:t>
            </a:r>
            <a:endParaRPr lang="en-US" sz="1500" dirty="0"/>
          </a:p>
          <a:p>
            <a:pPr indent="0" marL="0">
              <a:buNone/>
            </a:pPr>
            <a:r>
              <a:rPr lang="en-US" sz="14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oph.alonsovndev.com</a:t>
            </a:r>
            <a:endParaRPr lang="en-US" sz="1500" dirty="0"/>
          </a:p>
        </p:txBody>
      </p:sp>
      <p:sp>
        <p:nvSpPr>
          <p:cNvPr id="7" name="Shape 4"/>
          <p:cNvSpPr/>
          <p:nvPr/>
        </p:nvSpPr>
        <p:spPr>
          <a:xfrm>
            <a:off x="6117336" y="1271016"/>
            <a:ext cx="5504688" cy="4230878"/>
          </a:xfrm>
          <a:prstGeom prst="roundRect">
            <a:avLst>
              <a:gd name="adj" fmla="val 1729"/>
            </a:avLst>
          </a:prstGeom>
          <a:solidFill>
            <a:schemeClr val="bg1"/>
          </a:solidFill>
          <a:ln w="12700">
            <a:solidFill>
              <a:srgbClr val="D6E5FB"/>
            </a:solidFill>
            <a:prstDash val="solid"/>
          </a:ln>
          <a:effectLst>
            <a:outerShdw sx="100000" sy="100000" kx="0" ky="0" algn="bl" rotWithShape="0" blurRad="101600" dist="25400" dir="5400000">
              <a:srgbClr val="000000">
                <a:alpha val="12000"/>
              </a:srgbClr>
            </a:outerShdw>
          </a:effectLst>
        </p:spPr>
      </p:sp>
      <p:pic>
        <p:nvPicPr>
          <p:cNvPr id="8" name="Image 1" descr="/Users/alonso/Documents/Workspace/Alonsovndev/OpenProjectsHub/open-projects-hub-docs/static/img/product/refinement-workspace.png">    </p:cNvPr>
          <p:cNvPicPr>
            <a:picLocks noChangeAspect="1"/>
          </p:cNvPicPr>
          <p:nvPr/>
        </p:nvPicPr>
        <p:blipFill>
          <a:blip r:embed="rId3"/>
          <a:stretch>
            <a:fillRect/>
          </a:stretch>
        </p:blipFill>
        <p:spPr>
          <a:xfrm>
            <a:off x="6172200" y="1325880"/>
            <a:ext cx="5394960" cy="4121150"/>
          </a:xfrm>
          <a:prstGeom prst="rect">
            <a:avLst/>
          </a:prstGeom>
        </p:spPr>
      </p:pic>
      <p:sp>
        <p:nvSpPr>
          <p:cNvPr id="9" name="Review text 9"/>
          <p:cNvSpPr txBox="1"/>
          <p:nvPr/>
        </p:nvSpPr>
        <p:spPr>
          <a:xfrm>
            <a:off x="6172200" y="5559552"/>
            <a:ext cx="5394960" cy="274320"/>
          </a:xfrm>
          <a:prstGeom prst="rect">
            <a:avLst/>
          </a:prstGeom>
          <a:noFill/>
          <a:ln>
            <a:noFill/>
          </a:ln>
        </p:spPr>
        <p:txBody>
          <a:bodyPr wrap="square" lIns="0" tIns="0" rIns="0" bIns="0" anchor="t"/>
          <a:lstStyle/>
          <a:p>
            <a:pPr algn="l">
              <a:buNone/>
            </a:pPr>
            <a:r>
              <a:rPr lang="en-US" sz="1100" b="0">
                <a:solidFill>
                  <a:schemeClr val="accent2"/>
                </a:solidFill>
              </a:rPr>
              <a:t>Illustrative UI · fictional data · mocked API responses</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Client requirements arrive messy</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600" dirty="0">
                <a:solidFill>
                  <a:schemeClr val="accent6"/>
                </a:solidFill>
              </a:rPr>
              <a:t>Before any code is written, a freelancer has to turn informal input into something both sides agree on.</a:t>
            </a:r>
            <a:endParaRPr lang="en-US" sz="1600" dirty="0"/>
          </a:p>
        </p:txBody>
      </p:sp>
      <p:sp>
        <p:nvSpPr>
          <p:cNvPr id="4" name="problem-1"/>
          <p:cNvSpPr/>
          <p:nvPr/>
        </p:nvSpPr>
        <p:spPr>
          <a:xfrm>
            <a:off x="548640" y="2011680"/>
            <a:ext cx="3474720" cy="3200400"/>
          </a:xfrm>
          <a:prstGeom prst="roundRect">
            <a:avLst>
              <a:gd name="adj" fmla="val 3429"/>
            </a:avLst>
          </a:prstGeom>
          <a:solidFill>
            <a:schemeClr val="bg2"/>
          </a:solidFill>
          <a:ln w="12700">
            <a:solidFill>
              <a:srgbClr val="D6E5FB"/>
            </a:solidFill>
            <a:prstDash val="solid"/>
          </a:ln>
        </p:spPr>
      </p:sp>
      <p:sp>
        <p:nvSpPr>
          <p:cNvPr id="5" name="Shape 3"/>
          <p:cNvSpPr/>
          <p:nvPr/>
        </p:nvSpPr>
        <p:spPr>
          <a:xfrm>
            <a:off x="868680" y="233172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868680" y="23317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868680" y="3108960"/>
            <a:ext cx="2834640" cy="457200"/>
          </a:xfrm>
          <a:prstGeom prst="rect">
            <a:avLst/>
          </a:prstGeom>
          <a:noFill/>
          <a:ln/>
        </p:spPr>
        <p:txBody>
          <a:bodyPr wrap="square" lIns="0" tIns="0" rIns="0" bIns="0" rtlCol="0" anchor="t"/>
          <a:lstStyle/>
          <a:p>
            <a:pPr indent="0" marL="0">
              <a:buNone/>
            </a:pPr>
            <a:r>
              <a:rPr lang="en-US" sz="2000" b="1" dirty="0">
                <a:solidFill>
                  <a:schemeClr val="tx1"/>
                </a:solidFill>
              </a:rPr>
              <a:t>Ambiguous input</a:t>
            </a:r>
            <a:endParaRPr lang="en-US" sz="2000" dirty="0"/>
          </a:p>
        </p:txBody>
      </p:sp>
      <p:sp>
        <p:nvSpPr>
          <p:cNvPr id="8" name="Text 6"/>
          <p:cNvSpPr txBox="1"/>
          <p:nvPr/>
        </p:nvSpPr>
        <p:spPr>
          <a:xfrm>
            <a:off x="868680" y="3657600"/>
            <a:ext cx="2834640" cy="1371600"/>
          </a:xfrm>
          <a:prstGeom prst="rect">
            <a:avLst/>
          </a:prstGeom>
          <a:noFill/>
          <a:ln/>
        </p:spPr>
        <p:txBody>
          <a:bodyPr wrap="square" lIns="0" tIns="0" rIns="0" bIns="0" rtlCol="0" anchor="t"/>
          <a:lstStyle/>
          <a:p>
            <a:pPr indent="0" marL="0">
              <a:buNone/>
            </a:pPr>
            <a:r>
              <a:rPr lang="en-US" sz="1500" dirty="0">
                <a:solidFill>
                  <a:schemeClr val="accent6"/>
                </a:solidFill>
              </a:rPr>
              <a:t>Requests start as emails, calls or a list of ideas. Scope and intent have to be clarified first.</a:t>
            </a:r>
            <a:endParaRPr lang="en-US" sz="1500" dirty="0"/>
          </a:p>
        </p:txBody>
      </p:sp>
      <p:sp>
        <p:nvSpPr>
          <p:cNvPr id="9" name="problem-2"/>
          <p:cNvSpPr/>
          <p:nvPr/>
        </p:nvSpPr>
        <p:spPr>
          <a:xfrm>
            <a:off x="4343400" y="2011680"/>
            <a:ext cx="3474720" cy="3200400"/>
          </a:xfrm>
          <a:prstGeom prst="roundRect">
            <a:avLst>
              <a:gd name="adj" fmla="val 3429"/>
            </a:avLst>
          </a:prstGeom>
          <a:solidFill>
            <a:schemeClr val="bg2"/>
          </a:solidFill>
          <a:ln w="12700">
            <a:solidFill>
              <a:srgbClr val="D6E5FB"/>
            </a:solidFill>
            <a:prstDash val="solid"/>
          </a:ln>
        </p:spPr>
      </p:sp>
      <p:sp>
        <p:nvSpPr>
          <p:cNvPr id="10" name="Shape 8"/>
          <p:cNvSpPr/>
          <p:nvPr/>
        </p:nvSpPr>
        <p:spPr>
          <a:xfrm>
            <a:off x="4663440" y="233172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4663440" y="23317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4663440" y="3108960"/>
            <a:ext cx="2834640" cy="457200"/>
          </a:xfrm>
          <a:prstGeom prst="rect">
            <a:avLst/>
          </a:prstGeom>
          <a:noFill/>
          <a:ln/>
        </p:spPr>
        <p:txBody>
          <a:bodyPr wrap="square" lIns="0" tIns="0" rIns="0" bIns="0" rtlCol="0" anchor="t"/>
          <a:lstStyle/>
          <a:p>
            <a:pPr indent="0" marL="0">
              <a:buNone/>
            </a:pPr>
            <a:r>
              <a:rPr lang="en-US" sz="2000" b="1" dirty="0">
                <a:solidFill>
                  <a:schemeClr val="tx1"/>
                </a:solidFill>
              </a:rPr>
              <a:t>Scattered context</a:t>
            </a:r>
            <a:endParaRPr lang="en-US" sz="2000" dirty="0"/>
          </a:p>
        </p:txBody>
      </p:sp>
      <p:sp>
        <p:nvSpPr>
          <p:cNvPr id="13" name="Text 11"/>
          <p:cNvSpPr txBox="1"/>
          <p:nvPr/>
        </p:nvSpPr>
        <p:spPr>
          <a:xfrm>
            <a:off x="4663440" y="3657600"/>
            <a:ext cx="2834640" cy="1371600"/>
          </a:xfrm>
          <a:prstGeom prst="rect">
            <a:avLst/>
          </a:prstGeom>
          <a:noFill/>
          <a:ln/>
        </p:spPr>
        <p:txBody>
          <a:bodyPr wrap="square" lIns="0" tIns="0" rIns="0" bIns="0" rtlCol="0" anchor="t"/>
          <a:lstStyle/>
          <a:p>
            <a:pPr indent="0" marL="0">
              <a:buNone/>
            </a:pPr>
            <a:r>
              <a:rPr lang="en-US" sz="1500" dirty="0">
                <a:solidFill>
                  <a:schemeClr val="accent6"/>
                </a:solidFill>
              </a:rPr>
              <a:t>Notes, stories and decisions drift away from the client and project they belong to.</a:t>
            </a:r>
            <a:endParaRPr lang="en-US" sz="1500" dirty="0"/>
          </a:p>
        </p:txBody>
      </p:sp>
      <p:sp>
        <p:nvSpPr>
          <p:cNvPr id="14" name="problem-3"/>
          <p:cNvSpPr/>
          <p:nvPr/>
        </p:nvSpPr>
        <p:spPr>
          <a:xfrm>
            <a:off x="8138160" y="2011680"/>
            <a:ext cx="3474720" cy="3200400"/>
          </a:xfrm>
          <a:prstGeom prst="roundRect">
            <a:avLst>
              <a:gd name="adj" fmla="val 3429"/>
            </a:avLst>
          </a:prstGeom>
          <a:solidFill>
            <a:schemeClr val="bg2"/>
          </a:solidFill>
          <a:ln w="12700">
            <a:solidFill>
              <a:srgbClr val="D6E5FB"/>
            </a:solidFill>
            <a:prstDash val="solid"/>
          </a:ln>
        </p:spPr>
      </p:sp>
      <p:sp>
        <p:nvSpPr>
          <p:cNvPr id="15" name="Shape 13"/>
          <p:cNvSpPr/>
          <p:nvPr/>
        </p:nvSpPr>
        <p:spPr>
          <a:xfrm>
            <a:off x="8458200" y="2331720"/>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8458200" y="23317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8458200" y="3108960"/>
            <a:ext cx="2834640" cy="457200"/>
          </a:xfrm>
          <a:prstGeom prst="rect">
            <a:avLst/>
          </a:prstGeom>
          <a:noFill/>
          <a:ln/>
        </p:spPr>
        <p:txBody>
          <a:bodyPr wrap="square" lIns="0" tIns="0" rIns="0" bIns="0" rtlCol="0" anchor="t"/>
          <a:lstStyle/>
          <a:p>
            <a:pPr indent="0" marL="0">
              <a:buNone/>
            </a:pPr>
            <a:r>
              <a:rPr lang="en-US" sz="2000" b="1" dirty="0">
                <a:solidFill>
                  <a:schemeClr val="tx1"/>
                </a:solidFill>
              </a:rPr>
              <a:t>Risky sharing</a:t>
            </a:r>
            <a:endParaRPr lang="en-US" sz="2000" dirty="0"/>
          </a:p>
        </p:txBody>
      </p:sp>
      <p:sp>
        <p:nvSpPr>
          <p:cNvPr id="18" name="Text 16"/>
          <p:cNvSpPr txBox="1"/>
          <p:nvPr/>
        </p:nvSpPr>
        <p:spPr>
          <a:xfrm>
            <a:off x="8458200" y="3657600"/>
            <a:ext cx="2834640" cy="1371600"/>
          </a:xfrm>
          <a:prstGeom prst="rect">
            <a:avLst/>
          </a:prstGeom>
          <a:noFill/>
          <a:ln/>
        </p:spPr>
        <p:txBody>
          <a:bodyPr wrap="square" lIns="0" tIns="0" rIns="0" bIns="0" rtlCol="0" anchor="t"/>
          <a:lstStyle/>
          <a:p>
            <a:pPr indent="0" marL="0">
              <a:buNone/>
            </a:pPr>
            <a:r>
              <a:rPr lang="en-US" sz="1500" dirty="0">
                <a:solidFill>
                  <a:schemeClr val="accent6"/>
                </a:solidFill>
              </a:rPr>
              <a:t>Clients need to see what was agreed, without access to the freelancer's internal workspace.</a:t>
            </a:r>
            <a:endParaRPr lang="en-US" sz="1500" dirty="0"/>
          </a:p>
        </p:txBody>
      </p:sp>
      <p:sp>
        <p:nvSpPr>
          <p:cNvPr id="19" name="Text 17"/>
          <p:cNvSpPr txBox="1"/>
          <p:nvPr/>
        </p:nvSpPr>
        <p:spPr>
          <a:xfrm>
            <a:off x="548640" y="5532120"/>
            <a:ext cx="11064240" cy="411480"/>
          </a:xfrm>
          <a:prstGeom prst="rect">
            <a:avLst/>
          </a:prstGeom>
          <a:noFill/>
          <a:ln/>
        </p:spPr>
        <p:txBody>
          <a:bodyPr wrap="square" lIns="0" tIns="0" rIns="0" bIns="0" rtlCol="0" anchor="t"/>
          <a:lstStyle/>
          <a:p>
            <a:pPr indent="0" marL="0">
              <a:buNone/>
            </a:pPr>
            <a:r>
              <a:rPr lang="en-US" sz="1500" b="1" dirty="0">
                <a:solidFill>
                  <a:schemeClr val="accent1"/>
                </a:solidFill>
              </a:rPr>
              <a:t>Who it's for: </a:t>
            </a:r>
            <a:pPr indent="0" marL="0">
              <a:buNone/>
            </a:pPr>
            <a:r>
              <a:rPr lang="en-US" sz="1500" dirty="0">
                <a:solidFill>
                  <a:schemeClr val="tx1"/>
                </a:solidFill>
              </a:rPr>
              <a:t>freelancers and small teams, their clients, and contributors studying Clean Architecture.</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One workflow from notes to an agreed backlog</a:t>
            </a:r>
            <a:endParaRPr lang="en-US" sz="3200" dirty="0"/>
          </a:p>
        </p:txBody>
      </p:sp>
      <p:sp>
        <p:nvSpPr>
          <p:cNvPr id="3" name="Shape 1"/>
          <p:cNvSpPr/>
          <p:nvPr/>
        </p:nvSpPr>
        <p:spPr>
          <a:xfrm>
            <a:off x="2057400" y="2057400"/>
            <a:ext cx="1257300" cy="0"/>
          </a:xfrm>
          <a:prstGeom prst="line">
            <a:avLst/>
          </a:prstGeom>
          <a:noFill/>
          <a:ln w="25400">
            <a:solidFill>
              <a:schemeClr val="accent1"/>
            </a:solidFill>
            <a:prstDash val="solid"/>
            <a:tailEnd type="triangle"/>
          </a:ln>
        </p:spPr>
      </p:sp>
      <p:sp>
        <p:nvSpPr>
          <p:cNvPr id="4" name="Shape 2"/>
          <p:cNvSpPr/>
          <p:nvPr/>
        </p:nvSpPr>
        <p:spPr>
          <a:xfrm>
            <a:off x="1143000" y="164592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1143000" y="16459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548640" y="269748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Client &amp; project</a:t>
            </a:r>
            <a:endParaRPr lang="en-US" sz="1800" dirty="0"/>
          </a:p>
        </p:txBody>
      </p:sp>
      <p:sp>
        <p:nvSpPr>
          <p:cNvPr id="7" name="Text 5"/>
          <p:cNvSpPr txBox="1"/>
          <p:nvPr/>
        </p:nvSpPr>
        <p:spPr>
          <a:xfrm>
            <a:off x="548640" y="3154680"/>
            <a:ext cx="2011680" cy="1371600"/>
          </a:xfrm>
          <a:prstGeom prst="rect">
            <a:avLst/>
          </a:prstGeom>
          <a:noFill/>
          <a:ln/>
        </p:spPr>
        <p:txBody>
          <a:bodyPr wrap="square" lIns="0" tIns="0" rIns="0" bIns="0" rtlCol="0" anchor="t"/>
          <a:lstStyle/>
          <a:p>
            <a:pPr algn="ctr" indent="0" marL="0">
              <a:buNone/>
            </a:pPr>
            <a:r>
              <a:rPr lang="en-US" sz="1400" dirty="0">
                <a:solidFill>
                  <a:schemeClr val="accent6"/>
                </a:solidFill>
              </a:rPr>
              <a:t>Organize work per client, with up to 3 active projects per workspace.</a:t>
            </a:r>
            <a:endParaRPr lang="en-US" sz="1400" dirty="0"/>
          </a:p>
        </p:txBody>
      </p:sp>
      <p:sp>
        <p:nvSpPr>
          <p:cNvPr id="8" name="Shape 6"/>
          <p:cNvSpPr/>
          <p:nvPr/>
        </p:nvSpPr>
        <p:spPr>
          <a:xfrm>
            <a:off x="4320540" y="2057400"/>
            <a:ext cx="1257300" cy="0"/>
          </a:xfrm>
          <a:prstGeom prst="line">
            <a:avLst/>
          </a:prstGeom>
          <a:noFill/>
          <a:ln w="25400">
            <a:solidFill>
              <a:schemeClr val="accent1"/>
            </a:solidFill>
            <a:prstDash val="solid"/>
            <a:tailEnd type="triangle"/>
          </a:ln>
        </p:spPr>
      </p:sp>
      <p:sp>
        <p:nvSpPr>
          <p:cNvPr id="9" name="Shape 7"/>
          <p:cNvSpPr/>
          <p:nvPr/>
        </p:nvSpPr>
        <p:spPr>
          <a:xfrm>
            <a:off x="3406140" y="1645920"/>
            <a:ext cx="822960" cy="822960"/>
          </a:xfrm>
          <a:prstGeom prst="ellipse">
            <a:avLst/>
          </a:prstGeom>
          <a:solidFill>
            <a:schemeClr val="accent1"/>
          </a:solidFill>
          <a:ln w="12700">
            <a:solidFill>
              <a:schemeClr val="accent1"/>
            </a:solidFill>
            <a:prstDash val="solid"/>
          </a:ln>
        </p:spPr>
      </p:sp>
      <p:sp>
        <p:nvSpPr>
          <p:cNvPr id="10" name="Text 8"/>
          <p:cNvSpPr txBox="1"/>
          <p:nvPr/>
        </p:nvSpPr>
        <p:spPr>
          <a:xfrm>
            <a:off x="3406140" y="16459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 9"/>
          <p:cNvSpPr txBox="1"/>
          <p:nvPr/>
        </p:nvSpPr>
        <p:spPr>
          <a:xfrm>
            <a:off x="2811780" y="269748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AI refinement</a:t>
            </a:r>
            <a:endParaRPr lang="en-US" sz="1800" dirty="0"/>
          </a:p>
        </p:txBody>
      </p:sp>
      <p:sp>
        <p:nvSpPr>
          <p:cNvPr id="12" name="Text 10"/>
          <p:cNvSpPr txBox="1"/>
          <p:nvPr/>
        </p:nvSpPr>
        <p:spPr>
          <a:xfrm>
            <a:off x="2811780" y="3154680"/>
            <a:ext cx="2011680" cy="1371600"/>
          </a:xfrm>
          <a:prstGeom prst="rect">
            <a:avLst/>
          </a:prstGeom>
          <a:noFill/>
          <a:ln/>
        </p:spPr>
        <p:txBody>
          <a:bodyPr wrap="square" lIns="0" tIns="0" rIns="0" bIns="0" rtlCol="0" anchor="t"/>
          <a:lstStyle/>
          <a:p>
            <a:pPr algn="ctr" indent="0" marL="0">
              <a:buNone/>
            </a:pPr>
            <a:r>
              <a:rPr lang="en-US" sz="1400" dirty="0">
                <a:solidFill>
                  <a:schemeClr val="accent6"/>
                </a:solidFill>
              </a:rPr>
              <a:t>Paste raw notes; an AI provider drafts user stories with acceptance criteria.</a:t>
            </a:r>
            <a:endParaRPr lang="en-US" sz="1400" dirty="0"/>
          </a:p>
        </p:txBody>
      </p:sp>
      <p:sp>
        <p:nvSpPr>
          <p:cNvPr id="13" name="Shape 11"/>
          <p:cNvSpPr/>
          <p:nvPr/>
        </p:nvSpPr>
        <p:spPr>
          <a:xfrm>
            <a:off x="6583680" y="2057400"/>
            <a:ext cx="1257300" cy="0"/>
          </a:xfrm>
          <a:prstGeom prst="line">
            <a:avLst/>
          </a:prstGeom>
          <a:noFill/>
          <a:ln w="25400">
            <a:solidFill>
              <a:schemeClr val="accent1"/>
            </a:solidFill>
            <a:prstDash val="solid"/>
            <a:tailEnd type="triangle"/>
          </a:ln>
        </p:spPr>
      </p:sp>
      <p:sp>
        <p:nvSpPr>
          <p:cNvPr id="14" name="Shape 12"/>
          <p:cNvSpPr/>
          <p:nvPr/>
        </p:nvSpPr>
        <p:spPr>
          <a:xfrm>
            <a:off x="5669280" y="1645920"/>
            <a:ext cx="822960" cy="822960"/>
          </a:xfrm>
          <a:prstGeom prst="ellipse">
            <a:avLst/>
          </a:prstGeom>
          <a:solidFill>
            <a:schemeClr val="accent3"/>
          </a:solidFill>
          <a:ln w="12700">
            <a:solidFill>
              <a:schemeClr val="accent3"/>
            </a:solidFill>
            <a:prstDash val="solid"/>
          </a:ln>
        </p:spPr>
      </p:sp>
      <p:sp>
        <p:nvSpPr>
          <p:cNvPr id="15" name="Text 13"/>
          <p:cNvSpPr txBox="1"/>
          <p:nvPr/>
        </p:nvSpPr>
        <p:spPr>
          <a:xfrm>
            <a:off x="5669280" y="16459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6" name="Text 14"/>
          <p:cNvSpPr txBox="1"/>
          <p:nvPr/>
        </p:nvSpPr>
        <p:spPr>
          <a:xfrm>
            <a:off x="5074920" y="269748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Human review</a:t>
            </a:r>
            <a:endParaRPr lang="en-US" sz="1800" dirty="0"/>
          </a:p>
        </p:txBody>
      </p:sp>
      <p:sp>
        <p:nvSpPr>
          <p:cNvPr id="17" name="Text 15"/>
          <p:cNvSpPr txBox="1"/>
          <p:nvPr/>
        </p:nvSpPr>
        <p:spPr>
          <a:xfrm>
            <a:off x="5074920" y="3154680"/>
            <a:ext cx="2011680" cy="1371600"/>
          </a:xfrm>
          <a:prstGeom prst="rect">
            <a:avLst/>
          </a:prstGeom>
          <a:noFill/>
          <a:ln/>
        </p:spPr>
        <p:txBody>
          <a:bodyPr wrap="square" lIns="0" tIns="0" rIns="0" bIns="0" rtlCol="0" anchor="t"/>
          <a:lstStyle/>
          <a:p>
            <a:pPr algn="ctr" indent="0" marL="0">
              <a:buNone/>
            </a:pPr>
            <a:r>
              <a:rPr lang="en-US" sz="1400" dirty="0">
                <a:solidFill>
                  <a:schemeClr val="accent6"/>
                </a:solidFill>
              </a:rPr>
              <a:t>Edit, discard or approve each draft. Drafts stay in the browser tab.</a:t>
            </a:r>
            <a:endParaRPr lang="en-US" sz="1400" dirty="0"/>
          </a:p>
        </p:txBody>
      </p:sp>
      <p:sp>
        <p:nvSpPr>
          <p:cNvPr id="18" name="Shape 16"/>
          <p:cNvSpPr/>
          <p:nvPr/>
        </p:nvSpPr>
        <p:spPr>
          <a:xfrm>
            <a:off x="8846820" y="2057400"/>
            <a:ext cx="1257300" cy="0"/>
          </a:xfrm>
          <a:prstGeom prst="line">
            <a:avLst/>
          </a:prstGeom>
          <a:noFill/>
          <a:ln w="25400">
            <a:solidFill>
              <a:schemeClr val="accent1"/>
            </a:solidFill>
            <a:prstDash val="solid"/>
            <a:tailEnd type="triangle"/>
          </a:ln>
        </p:spPr>
      </p:sp>
      <p:sp>
        <p:nvSpPr>
          <p:cNvPr id="19" name="Shape 17"/>
          <p:cNvSpPr/>
          <p:nvPr/>
        </p:nvSpPr>
        <p:spPr>
          <a:xfrm>
            <a:off x="7932420" y="1645920"/>
            <a:ext cx="822960" cy="822960"/>
          </a:xfrm>
          <a:prstGeom prst="ellipse">
            <a:avLst/>
          </a:prstGeom>
          <a:solidFill>
            <a:schemeClr val="accent1"/>
          </a:solidFill>
          <a:ln w="12700">
            <a:solidFill>
              <a:schemeClr val="accent1"/>
            </a:solidFill>
            <a:prstDash val="solid"/>
          </a:ln>
        </p:spPr>
      </p:sp>
      <p:sp>
        <p:nvSpPr>
          <p:cNvPr id="20" name="Text 18"/>
          <p:cNvSpPr txBox="1"/>
          <p:nvPr/>
        </p:nvSpPr>
        <p:spPr>
          <a:xfrm>
            <a:off x="7932420" y="16459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1" name="Text 19"/>
          <p:cNvSpPr txBox="1"/>
          <p:nvPr/>
        </p:nvSpPr>
        <p:spPr>
          <a:xfrm>
            <a:off x="7338060" y="269748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Approved backlog</a:t>
            </a:r>
            <a:endParaRPr lang="en-US" sz="1800" dirty="0"/>
          </a:p>
        </p:txBody>
      </p:sp>
      <p:sp>
        <p:nvSpPr>
          <p:cNvPr id="22" name="Text 20"/>
          <p:cNvSpPr txBox="1"/>
          <p:nvPr/>
        </p:nvSpPr>
        <p:spPr>
          <a:xfrm>
            <a:off x="7338060" y="3154680"/>
            <a:ext cx="2011680" cy="1371600"/>
          </a:xfrm>
          <a:prstGeom prst="rect">
            <a:avLst/>
          </a:prstGeom>
          <a:noFill/>
          <a:ln/>
        </p:spPr>
        <p:txBody>
          <a:bodyPr wrap="square" lIns="0" tIns="0" rIns="0" bIns="0" rtlCol="0" anchor="t"/>
          <a:lstStyle/>
          <a:p>
            <a:pPr algn="ctr" indent="0" marL="0">
              <a:buNone/>
            </a:pPr>
            <a:r>
              <a:rPr lang="en-US" sz="1400" dirty="0">
                <a:solidFill>
                  <a:schemeClr val="accent6"/>
                </a:solidFill>
              </a:rPr>
              <a:t>Only approved stories are stored. Filter and export to Markdown.</a:t>
            </a:r>
            <a:endParaRPr lang="en-US" sz="1400" dirty="0"/>
          </a:p>
        </p:txBody>
      </p:sp>
      <p:sp>
        <p:nvSpPr>
          <p:cNvPr id="23" name="Shape 21"/>
          <p:cNvSpPr/>
          <p:nvPr/>
        </p:nvSpPr>
        <p:spPr>
          <a:xfrm>
            <a:off x="10195560" y="1645920"/>
            <a:ext cx="822960" cy="822960"/>
          </a:xfrm>
          <a:prstGeom prst="ellipse">
            <a:avLst/>
          </a:prstGeom>
          <a:solidFill>
            <a:schemeClr val="accent1"/>
          </a:solidFill>
          <a:ln w="12700">
            <a:solidFill>
              <a:schemeClr val="accent1"/>
            </a:solidFill>
            <a:prstDash val="solid"/>
          </a:ln>
        </p:spPr>
      </p:sp>
      <p:sp>
        <p:nvSpPr>
          <p:cNvPr id="24" name="Text 22"/>
          <p:cNvSpPr txBox="1"/>
          <p:nvPr/>
        </p:nvSpPr>
        <p:spPr>
          <a:xfrm>
            <a:off x="10195560" y="16459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5" name="Text 23"/>
          <p:cNvSpPr txBox="1"/>
          <p:nvPr/>
        </p:nvSpPr>
        <p:spPr>
          <a:xfrm>
            <a:off x="9601200" y="269748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Client Review</a:t>
            </a:r>
            <a:endParaRPr lang="en-US" sz="1800" dirty="0"/>
          </a:p>
        </p:txBody>
      </p:sp>
      <p:sp>
        <p:nvSpPr>
          <p:cNvPr id="26" name="Text 24"/>
          <p:cNvSpPr txBox="1"/>
          <p:nvPr/>
        </p:nvSpPr>
        <p:spPr>
          <a:xfrm>
            <a:off x="9601200" y="3154680"/>
            <a:ext cx="2011680" cy="1371600"/>
          </a:xfrm>
          <a:prstGeom prst="rect">
            <a:avLst/>
          </a:prstGeom>
          <a:noFill/>
          <a:ln/>
        </p:spPr>
        <p:txBody>
          <a:bodyPr wrap="square" lIns="0" tIns="0" rIns="0" bIns="0" rtlCol="0" anchor="t"/>
          <a:lstStyle/>
          <a:p>
            <a:pPr algn="ctr" indent="0" marL="0">
              <a:buNone/>
            </a:pPr>
            <a:r>
              <a:rPr lang="en-US" sz="1400" dirty="0">
                <a:solidFill>
                  <a:schemeClr val="accent6"/>
                </a:solidFill>
              </a:rPr>
              <a:t>The client reads approved stories with an access code. No account needed.</a:t>
            </a:r>
            <a:endParaRPr lang="en-US" sz="1400" dirty="0"/>
          </a:p>
        </p:txBody>
      </p:sp>
      <p:sp>
        <p:nvSpPr>
          <p:cNvPr id="27" name="principle"/>
          <p:cNvSpPr/>
          <p:nvPr/>
        </p:nvSpPr>
        <p:spPr>
          <a:xfrm>
            <a:off x="548640" y="4617720"/>
            <a:ext cx="11064240" cy="1005840"/>
          </a:xfrm>
          <a:prstGeom prst="roundRect">
            <a:avLst>
              <a:gd name="adj" fmla="val 10909"/>
            </a:avLst>
          </a:prstGeom>
          <a:solidFill>
            <a:schemeClr val="bg2"/>
          </a:solidFill>
          <a:ln w="12700">
            <a:solidFill>
              <a:srgbClr val="D6E5FB"/>
            </a:solidFill>
            <a:prstDash val="solid"/>
          </a:ln>
        </p:spPr>
      </p:sp>
      <p:sp>
        <p:nvSpPr>
          <p:cNvPr id="28" name="Text 26"/>
          <p:cNvSpPr txBox="1"/>
          <p:nvPr/>
        </p:nvSpPr>
        <p:spPr>
          <a:xfrm>
            <a:off x="868680" y="4617720"/>
            <a:ext cx="10424160" cy="1005840"/>
          </a:xfrm>
          <a:prstGeom prst="rect">
            <a:avLst/>
          </a:prstGeom>
          <a:noFill/>
          <a:ln/>
        </p:spPr>
        <p:txBody>
          <a:bodyPr wrap="square" lIns="0" tIns="0" rIns="0" bIns="0" rtlCol="0" anchor="ctr"/>
          <a:lstStyle/>
          <a:p>
            <a:pPr indent="0" marL="0">
              <a:buNone/>
            </a:pPr>
            <a:r>
              <a:rPr lang="en-US" sz="1700" b="1" dirty="0">
                <a:solidFill>
                  <a:schemeClr val="accent1"/>
                </a:solidFill>
              </a:rPr>
              <a:t>AI proposes, the freelancer decides. </a:t>
            </a:r>
            <a:pPr indent="0" marL="0">
              <a:buNone/>
            </a:pPr>
            <a:r>
              <a:rPr lang="en-US" sz="1700" dirty="0">
                <a:solidFill>
                  <a:schemeClr val="tx1"/>
                </a:solidFill>
              </a:rPr>
              <a:t>Nothing reaches the backlog or the client without explicit human approval.</a:t>
            </a:r>
            <a:endParaRPr lang="en-US" sz="1700" dirty="0"/>
          </a:p>
        </p:txBody>
      </p:sp>
      <p:sp>
        <p:nvSpPr>
          <p:cNvPr id="29"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Refinement: AI drafts, the freelancer decides</a:t>
            </a:r>
            <a:endParaRPr lang="en-US" sz="3200" dirty="0"/>
          </a:p>
        </p:txBody>
      </p:sp>
      <p:sp>
        <p:nvSpPr>
          <p:cNvPr id="3" name="Shape 1"/>
          <p:cNvSpPr/>
          <p:nvPr/>
        </p:nvSpPr>
        <p:spPr>
          <a:xfrm>
            <a:off x="548640" y="1624646"/>
            <a:ext cx="7242048" cy="4294508"/>
          </a:xfrm>
          <a:prstGeom prst="roundRect">
            <a:avLst>
              <a:gd name="adj" fmla="val 1504"/>
            </a:avLst>
          </a:prstGeom>
          <a:solidFill>
            <a:schemeClr val="bg1"/>
          </a:solidFill>
          <a:ln w="12700">
            <a:solidFill>
              <a:srgbClr val="D6E5FB"/>
            </a:solidFill>
            <a:prstDash val="solid"/>
          </a:ln>
          <a:effectLst>
            <a:outerShdw sx="100000" sy="100000" kx="0" ky="0" algn="bl" rotWithShape="0" blurRad="101600" dist="25400" dir="5400000">
              <a:srgbClr val="000000">
                <a:alpha val="12000"/>
              </a:srgbClr>
            </a:outerShdw>
          </a:effectLst>
        </p:spPr>
      </p:sp>
      <p:pic>
        <p:nvPicPr>
          <p:cNvPr id="4" name="Image 0" descr="/Users/alonso/Documents/Workspace/Alonsovndev/OpenProjectsHub/open-projects-hub-docs/static/img/product/refinement-workspace.png">    </p:cNvPr>
          <p:cNvPicPr>
            <a:picLocks noChangeAspect="1"/>
          </p:cNvPicPr>
          <p:nvPr/>
        </p:nvPicPr>
        <p:blipFill>
          <a:blip r:embed="rId1"/>
          <a:srcRect l="17361" t="35455" r="972" b="1818"/>
          <a:stretch>
            <a:fillRect/>
          </a:stretch>
        </p:blipFill>
        <p:spPr>
          <a:xfrm>
            <a:off x="603504" y="1679510"/>
            <a:ext cx="7132320" cy="4184780"/>
          </a:xfrm>
          <a:prstGeom prst="rect">
            <a:avLst/>
          </a:prstGeom>
        </p:spPr>
      </p:pic>
      <p:sp>
        <p:nvSpPr>
          <p:cNvPr id="5" name="Text 2"/>
          <p:cNvSpPr txBox="1"/>
          <p:nvPr/>
        </p:nvSpPr>
        <p:spPr>
          <a:xfrm>
            <a:off x="8138160" y="1417320"/>
            <a:ext cx="347472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UI WALKTHROUGH 1 / 3</a:t>
            </a:r>
            <a:endParaRPr lang="en-US" sz="1200" dirty="0"/>
          </a:p>
        </p:txBody>
      </p:sp>
      <p:sp>
        <p:nvSpPr>
          <p:cNvPr id="6" name="Shape 3"/>
          <p:cNvSpPr/>
          <p:nvPr/>
        </p:nvSpPr>
        <p:spPr>
          <a:xfrm>
            <a:off x="8138160" y="2011680"/>
            <a:ext cx="411480" cy="411480"/>
          </a:xfrm>
          <a:prstGeom prst="ellipse">
            <a:avLst/>
          </a:prstGeom>
          <a:solidFill>
            <a:schemeClr val="accent1"/>
          </a:solidFill>
          <a:ln w="12700">
            <a:solidFill>
              <a:schemeClr val="accent1"/>
            </a:solidFill>
            <a:prstDash val="solid"/>
          </a:ln>
        </p:spPr>
      </p:sp>
      <p:sp>
        <p:nvSpPr>
          <p:cNvPr id="7" name="Text 4"/>
          <p:cNvSpPr txBox="1"/>
          <p:nvPr/>
        </p:nvSpPr>
        <p:spPr>
          <a:xfrm>
            <a:off x="813816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8732520" y="1993392"/>
            <a:ext cx="2880360" cy="365760"/>
          </a:xfrm>
          <a:prstGeom prst="rect">
            <a:avLst/>
          </a:prstGeom>
          <a:noFill/>
          <a:ln/>
        </p:spPr>
        <p:txBody>
          <a:bodyPr wrap="square" lIns="0" tIns="0" rIns="0" bIns="0" rtlCol="0" anchor="t"/>
          <a:lstStyle/>
          <a:p>
            <a:pPr indent="0" marL="0">
              <a:buNone/>
            </a:pPr>
            <a:r>
              <a:rPr lang="en-US" sz="1800" b="1" dirty="0">
                <a:solidFill>
                  <a:schemeClr val="tx1"/>
                </a:solidFill>
              </a:rPr>
              <a:t>Raw notes in</a:t>
            </a:r>
            <a:endParaRPr lang="en-US" sz="1800" dirty="0"/>
          </a:p>
        </p:txBody>
      </p:sp>
      <p:sp>
        <p:nvSpPr>
          <p:cNvPr id="9" name="Text 6"/>
          <p:cNvSpPr txBox="1"/>
          <p:nvPr/>
        </p:nvSpPr>
        <p:spPr>
          <a:xfrm>
            <a:off x="8732520" y="239572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Paste the client's own words, up to 5,000 characters per request.</a:t>
            </a:r>
            <a:endParaRPr lang="en-US" sz="1500" dirty="0"/>
          </a:p>
        </p:txBody>
      </p:sp>
      <p:sp>
        <p:nvSpPr>
          <p:cNvPr id="10" name="Shape 7"/>
          <p:cNvSpPr/>
          <p:nvPr/>
        </p:nvSpPr>
        <p:spPr>
          <a:xfrm>
            <a:off x="8138160" y="333756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8138160" y="3337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8732520" y="3319272"/>
            <a:ext cx="2880360" cy="365760"/>
          </a:xfrm>
          <a:prstGeom prst="rect">
            <a:avLst/>
          </a:prstGeom>
          <a:noFill/>
          <a:ln/>
        </p:spPr>
        <p:txBody>
          <a:bodyPr wrap="square" lIns="0" tIns="0" rIns="0" bIns="0" rtlCol="0" anchor="t"/>
          <a:lstStyle/>
          <a:p>
            <a:pPr indent="0" marL="0">
              <a:buNone/>
            </a:pPr>
            <a:r>
              <a:rPr lang="en-US" sz="1800" b="1" dirty="0">
                <a:solidFill>
                  <a:schemeClr val="tx1"/>
                </a:solidFill>
              </a:rPr>
              <a:t>Candidate stories out</a:t>
            </a:r>
            <a:endParaRPr lang="en-US" sz="1800" dirty="0"/>
          </a:p>
        </p:txBody>
      </p:sp>
      <p:sp>
        <p:nvSpPr>
          <p:cNvPr id="13" name="Text 10"/>
          <p:cNvSpPr txBox="1"/>
          <p:nvPr/>
        </p:nvSpPr>
        <p:spPr>
          <a:xfrm>
            <a:off x="8732520" y="372160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Each draft has a user story and acceptance criteria to edit, approve or discard.</a:t>
            </a:r>
            <a:endParaRPr lang="en-US" sz="1500" dirty="0"/>
          </a:p>
        </p:txBody>
      </p:sp>
      <p:sp>
        <p:nvSpPr>
          <p:cNvPr id="14" name="Shape 11"/>
          <p:cNvSpPr/>
          <p:nvPr/>
        </p:nvSpPr>
        <p:spPr>
          <a:xfrm>
            <a:off x="8138160" y="4663440"/>
            <a:ext cx="411480" cy="411480"/>
          </a:xfrm>
          <a:prstGeom prst="ellipse">
            <a:avLst/>
          </a:prstGeom>
          <a:solidFill>
            <a:schemeClr val="accent1"/>
          </a:solidFill>
          <a:ln w="12700">
            <a:solidFill>
              <a:schemeClr val="accent1"/>
            </a:solidFill>
            <a:prstDash val="solid"/>
          </a:ln>
        </p:spPr>
      </p:sp>
      <p:sp>
        <p:nvSpPr>
          <p:cNvPr id="15" name="Text 12"/>
          <p:cNvSpPr txBox="1"/>
          <p:nvPr/>
        </p:nvSpPr>
        <p:spPr>
          <a:xfrm>
            <a:off x="8138160" y="4663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8732520" y="4645152"/>
            <a:ext cx="2880360" cy="365760"/>
          </a:xfrm>
          <a:prstGeom prst="rect">
            <a:avLst/>
          </a:prstGeom>
          <a:noFill/>
          <a:ln/>
        </p:spPr>
        <p:txBody>
          <a:bodyPr wrap="square" lIns="0" tIns="0" rIns="0" bIns="0" rtlCol="0" anchor="t"/>
          <a:lstStyle/>
          <a:p>
            <a:pPr indent="0" marL="0">
              <a:buNone/>
            </a:pPr>
            <a:r>
              <a:rPr lang="en-US" sz="1800" b="1" dirty="0">
                <a:solidFill>
                  <a:schemeClr val="tx1"/>
                </a:solidFill>
              </a:rPr>
              <a:t>Choose a provider</a:t>
            </a:r>
            <a:endParaRPr lang="en-US" sz="1800" dirty="0"/>
          </a:p>
        </p:txBody>
      </p:sp>
      <p:sp>
        <p:nvSpPr>
          <p:cNvPr id="17" name="Text 14"/>
          <p:cNvSpPr txBox="1"/>
          <p:nvPr/>
        </p:nvSpPr>
        <p:spPr>
          <a:xfrm>
            <a:off x="8732520" y="504748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Use platform credits or a personal Gemini, OpenAI or DeepSeek key.</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
        <p:nvSpPr>
          <p:cNvPr id="26" name="Review text 26"/>
          <p:cNvSpPr txBox="1"/>
          <p:nvPr/>
        </p:nvSpPr>
        <p:spPr>
          <a:xfrm>
            <a:off x="603504" y="6108192"/>
            <a:ext cx="10789920" cy="219456"/>
          </a:xfrm>
          <a:prstGeom prst="rect">
            <a:avLst/>
          </a:prstGeom>
          <a:noFill/>
          <a:ln>
            <a:noFill/>
          </a:ln>
        </p:spPr>
        <p:txBody>
          <a:bodyPr wrap="square" lIns="0" tIns="0" rIns="0" bIns="0" anchor="t"/>
          <a:lstStyle/>
          <a:p>
            <a:pPr algn="l">
              <a:buNone/>
            </a:pPr>
            <a:r>
              <a:rPr lang="en-US" sz="1100" b="0">
                <a:solidFill>
                  <a:schemeClr val="accent6"/>
                </a:solidFill>
              </a:rPr>
              <a:t>Illustrative UI walkthrough · fictional data · mocked API responses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Approved backlog, ready to share</a:t>
            </a:r>
            <a:endParaRPr lang="en-US" sz="3200" dirty="0"/>
          </a:p>
        </p:txBody>
      </p:sp>
      <p:sp>
        <p:nvSpPr>
          <p:cNvPr id="3" name="Shape 1"/>
          <p:cNvSpPr/>
          <p:nvPr/>
        </p:nvSpPr>
        <p:spPr>
          <a:xfrm>
            <a:off x="548640" y="1591056"/>
            <a:ext cx="6753416" cy="4361688"/>
          </a:xfrm>
          <a:prstGeom prst="roundRect">
            <a:avLst>
              <a:gd name="adj" fmla="val 1504"/>
            </a:avLst>
          </a:prstGeom>
          <a:solidFill>
            <a:schemeClr val="bg1"/>
          </a:solidFill>
          <a:ln w="12700">
            <a:solidFill>
              <a:srgbClr val="D6E5FB"/>
            </a:solidFill>
            <a:prstDash val="solid"/>
          </a:ln>
          <a:effectLst>
            <a:outerShdw sx="100000" sy="100000" kx="0" ky="0" algn="bl" rotWithShape="0" blurRad="101600" dist="25400" dir="5400000">
              <a:srgbClr val="000000">
                <a:alpha val="12000"/>
              </a:srgbClr>
            </a:outerShdw>
          </a:effectLst>
        </p:spPr>
      </p:sp>
      <p:pic>
        <p:nvPicPr>
          <p:cNvPr id="4" name="Image 0" descr="/Users/alonso/Documents/Workspace/Alonsovndev/OpenProjectsHub/open-projects-hub-docs/static/img/product/approved-backlog.png">    </p:cNvPr>
          <p:cNvPicPr>
            <a:picLocks noChangeAspect="1"/>
          </p:cNvPicPr>
          <p:nvPr/>
        </p:nvPicPr>
        <p:blipFill>
          <a:blip r:embed="rId1"/>
          <a:srcRect l="18056" t="12727" r="29861" b="43636"/>
          <a:stretch>
            <a:fillRect/>
          </a:stretch>
        </p:blipFill>
        <p:spPr>
          <a:xfrm>
            <a:off x="603504" y="1645920"/>
            <a:ext cx="6643688" cy="4251960"/>
          </a:xfrm>
          <a:prstGeom prst="rect">
            <a:avLst/>
          </a:prstGeom>
        </p:spPr>
      </p:pic>
      <p:sp>
        <p:nvSpPr>
          <p:cNvPr id="5" name="Text 2"/>
          <p:cNvSpPr txBox="1"/>
          <p:nvPr/>
        </p:nvSpPr>
        <p:spPr>
          <a:xfrm>
            <a:off x="8138160" y="1417320"/>
            <a:ext cx="347472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UI WALKTHROUGH 2 / 3</a:t>
            </a:r>
            <a:endParaRPr lang="en-US" sz="1200" dirty="0"/>
          </a:p>
        </p:txBody>
      </p:sp>
      <p:sp>
        <p:nvSpPr>
          <p:cNvPr id="6" name="Shape 3"/>
          <p:cNvSpPr/>
          <p:nvPr/>
        </p:nvSpPr>
        <p:spPr>
          <a:xfrm>
            <a:off x="8138160" y="2011680"/>
            <a:ext cx="411480" cy="411480"/>
          </a:xfrm>
          <a:prstGeom prst="ellipse">
            <a:avLst/>
          </a:prstGeom>
          <a:solidFill>
            <a:schemeClr val="accent1"/>
          </a:solidFill>
          <a:ln w="12700">
            <a:solidFill>
              <a:schemeClr val="accent1"/>
            </a:solidFill>
            <a:prstDash val="solid"/>
          </a:ln>
        </p:spPr>
      </p:sp>
      <p:sp>
        <p:nvSpPr>
          <p:cNvPr id="7" name="Text 4"/>
          <p:cNvSpPr txBox="1"/>
          <p:nvPr/>
        </p:nvSpPr>
        <p:spPr>
          <a:xfrm>
            <a:off x="813816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8732520" y="1993392"/>
            <a:ext cx="2880360" cy="365760"/>
          </a:xfrm>
          <a:prstGeom prst="rect">
            <a:avLst/>
          </a:prstGeom>
          <a:noFill/>
          <a:ln/>
        </p:spPr>
        <p:txBody>
          <a:bodyPr wrap="square" lIns="0" tIns="0" rIns="0" bIns="0" rtlCol="0" anchor="t"/>
          <a:lstStyle/>
          <a:p>
            <a:pPr indent="0" marL="0">
              <a:buNone/>
            </a:pPr>
            <a:r>
              <a:rPr lang="en-US" sz="1800" b="1" dirty="0">
                <a:solidFill>
                  <a:schemeClr val="tx1"/>
                </a:solidFill>
              </a:rPr>
              <a:t>Only what was agreed</a:t>
            </a:r>
            <a:endParaRPr lang="en-US" sz="1800" dirty="0"/>
          </a:p>
        </p:txBody>
      </p:sp>
      <p:sp>
        <p:nvSpPr>
          <p:cNvPr id="9" name="Text 6"/>
          <p:cNvSpPr txBox="1"/>
          <p:nvPr/>
        </p:nvSpPr>
        <p:spPr>
          <a:xfrm>
            <a:off x="8732520" y="239572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The backlog holds approved stories, with priority and estimate.</a:t>
            </a:r>
            <a:endParaRPr lang="en-US" sz="1500" dirty="0"/>
          </a:p>
        </p:txBody>
      </p:sp>
      <p:sp>
        <p:nvSpPr>
          <p:cNvPr id="10" name="Shape 7"/>
          <p:cNvSpPr/>
          <p:nvPr/>
        </p:nvSpPr>
        <p:spPr>
          <a:xfrm>
            <a:off x="8138160" y="333756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8138160" y="3337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8732520" y="3319272"/>
            <a:ext cx="2880360" cy="365760"/>
          </a:xfrm>
          <a:prstGeom prst="rect">
            <a:avLst/>
          </a:prstGeom>
          <a:noFill/>
          <a:ln/>
        </p:spPr>
        <p:txBody>
          <a:bodyPr wrap="square" lIns="0" tIns="0" rIns="0" bIns="0" rtlCol="0" anchor="t"/>
          <a:lstStyle/>
          <a:p>
            <a:pPr indent="0" marL="0">
              <a:buNone/>
            </a:pPr>
            <a:r>
              <a:rPr lang="en-US" sz="1800" b="1" dirty="0">
                <a:solidFill>
                  <a:schemeClr val="tx1"/>
                </a:solidFill>
              </a:rPr>
              <a:t>Markdown export</a:t>
            </a:r>
            <a:endParaRPr lang="en-US" sz="1800" dirty="0"/>
          </a:p>
        </p:txBody>
      </p:sp>
      <p:sp>
        <p:nvSpPr>
          <p:cNvPr id="13" name="Text 10"/>
          <p:cNvSpPr txBox="1"/>
          <p:nvPr/>
        </p:nvSpPr>
        <p:spPr>
          <a:xfrm>
            <a:off x="8732520" y="372160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Export a project's scope to Markdown for proposals or repositories.</a:t>
            </a:r>
            <a:endParaRPr lang="en-US" sz="1500" dirty="0"/>
          </a:p>
        </p:txBody>
      </p:sp>
      <p:sp>
        <p:nvSpPr>
          <p:cNvPr id="14" name="Shape 11"/>
          <p:cNvSpPr/>
          <p:nvPr/>
        </p:nvSpPr>
        <p:spPr>
          <a:xfrm>
            <a:off x="8138160" y="4663440"/>
            <a:ext cx="411480" cy="411480"/>
          </a:xfrm>
          <a:prstGeom prst="ellipse">
            <a:avLst/>
          </a:prstGeom>
          <a:solidFill>
            <a:schemeClr val="accent1"/>
          </a:solidFill>
          <a:ln w="12700">
            <a:solidFill>
              <a:schemeClr val="accent1"/>
            </a:solidFill>
            <a:prstDash val="solid"/>
          </a:ln>
        </p:spPr>
      </p:sp>
      <p:sp>
        <p:nvSpPr>
          <p:cNvPr id="15" name="Text 12"/>
          <p:cNvSpPr txBox="1"/>
          <p:nvPr/>
        </p:nvSpPr>
        <p:spPr>
          <a:xfrm>
            <a:off x="8138160" y="4663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8732520" y="4645152"/>
            <a:ext cx="2880360" cy="365760"/>
          </a:xfrm>
          <a:prstGeom prst="rect">
            <a:avLst/>
          </a:prstGeom>
          <a:noFill/>
          <a:ln/>
        </p:spPr>
        <p:txBody>
          <a:bodyPr wrap="square" lIns="0" tIns="0" rIns="0" bIns="0" rtlCol="0" anchor="t"/>
          <a:lstStyle/>
          <a:p>
            <a:pPr indent="0" marL="0">
              <a:buNone/>
            </a:pPr>
            <a:r>
              <a:rPr lang="en-US" sz="1800" b="1" dirty="0">
                <a:solidFill>
                  <a:schemeClr val="tx1"/>
                </a:solidFill>
              </a:rPr>
              <a:t>Workspace isolation</a:t>
            </a:r>
            <a:endParaRPr lang="en-US" sz="1800" dirty="0"/>
          </a:p>
        </p:txBody>
      </p:sp>
      <p:sp>
        <p:nvSpPr>
          <p:cNvPr id="17" name="Text 14"/>
          <p:cNvSpPr txBox="1"/>
          <p:nvPr/>
        </p:nvSpPr>
        <p:spPr>
          <a:xfrm>
            <a:off x="8732520" y="504748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Workspace-owned data is scoped to the caller's workspace and role.</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
        <p:nvSpPr>
          <p:cNvPr id="26" name="Review text 26"/>
          <p:cNvSpPr txBox="1"/>
          <p:nvPr/>
        </p:nvSpPr>
        <p:spPr>
          <a:xfrm>
            <a:off x="603504" y="6108192"/>
            <a:ext cx="10789920" cy="219456"/>
          </a:xfrm>
          <a:prstGeom prst="rect">
            <a:avLst/>
          </a:prstGeom>
          <a:noFill/>
          <a:ln>
            <a:noFill/>
          </a:ln>
        </p:spPr>
        <p:txBody>
          <a:bodyPr wrap="square" lIns="0" tIns="0" rIns="0" bIns="0" anchor="t"/>
          <a:lstStyle/>
          <a:p>
            <a:pPr algn="l">
              <a:buNone/>
            </a:pPr>
            <a:r>
              <a:rPr lang="en-US" sz="1100" b="0">
                <a:solidFill>
                  <a:schemeClr val="accent6"/>
                </a:solidFill>
              </a:rPr>
              <a:t>Illustrative UI walkthrough · fictional data · mocked API responses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Client Review: read-only, no account</a:t>
            </a:r>
            <a:endParaRPr lang="en-US" sz="3200" dirty="0"/>
          </a:p>
        </p:txBody>
      </p:sp>
      <p:sp>
        <p:nvSpPr>
          <p:cNvPr id="3" name="Shape 1"/>
          <p:cNvSpPr/>
          <p:nvPr/>
        </p:nvSpPr>
        <p:spPr>
          <a:xfrm>
            <a:off x="548640" y="1591056"/>
            <a:ext cx="7028171" cy="4361688"/>
          </a:xfrm>
          <a:prstGeom prst="roundRect">
            <a:avLst>
              <a:gd name="adj" fmla="val 1761"/>
            </a:avLst>
          </a:prstGeom>
          <a:solidFill>
            <a:schemeClr val="bg1"/>
          </a:solidFill>
          <a:ln w="12700">
            <a:solidFill>
              <a:srgbClr val="D6E5FB"/>
            </a:solidFill>
            <a:prstDash val="solid"/>
          </a:ln>
          <a:effectLst>
            <a:outerShdw sx="100000" sy="100000" kx="0" ky="0" algn="bl" rotWithShape="0" blurRad="101600" dist="25400" dir="5400000">
              <a:srgbClr val="000000">
                <a:alpha val="12000"/>
              </a:srgbClr>
            </a:outerShdw>
          </a:effectLst>
        </p:spPr>
      </p:sp>
      <p:pic>
        <p:nvPicPr>
          <p:cNvPr id="4" name="Image 0" descr="/Users/alonso/Documents/Workspace/Alonsovndev/OpenProjectsHub/open-projects-hub-docs/static/img/product/client-review.png">    </p:cNvPr>
          <p:cNvPicPr>
            <a:picLocks noChangeAspect="1"/>
          </p:cNvPicPr>
          <p:nvPr/>
        </p:nvPicPr>
        <p:blipFill>
          <a:blip r:embed="rId1"/>
          <a:srcRect l="17014" t="31419" r="16319" b="4659"/>
          <a:stretch>
            <a:fillRect/>
          </a:stretch>
        </p:blipFill>
        <p:spPr>
          <a:xfrm>
            <a:off x="603504" y="1645920"/>
            <a:ext cx="6918443" cy="4251960"/>
          </a:xfrm>
          <a:prstGeom prst="rect">
            <a:avLst/>
          </a:prstGeom>
        </p:spPr>
      </p:pic>
      <p:sp>
        <p:nvSpPr>
          <p:cNvPr id="5" name="Text 2"/>
          <p:cNvSpPr txBox="1"/>
          <p:nvPr/>
        </p:nvSpPr>
        <p:spPr>
          <a:xfrm>
            <a:off x="8138160" y="1417320"/>
            <a:ext cx="347472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UI WALKTHROUGH 3 / 3</a:t>
            </a:r>
            <a:endParaRPr lang="en-US" sz="1200" dirty="0"/>
          </a:p>
        </p:txBody>
      </p:sp>
      <p:sp>
        <p:nvSpPr>
          <p:cNvPr id="6" name="Shape 3"/>
          <p:cNvSpPr/>
          <p:nvPr/>
        </p:nvSpPr>
        <p:spPr>
          <a:xfrm>
            <a:off x="8138160" y="2011680"/>
            <a:ext cx="411480" cy="411480"/>
          </a:xfrm>
          <a:prstGeom prst="ellipse">
            <a:avLst/>
          </a:prstGeom>
          <a:solidFill>
            <a:schemeClr val="accent1"/>
          </a:solidFill>
          <a:ln w="12700">
            <a:solidFill>
              <a:schemeClr val="accent1"/>
            </a:solidFill>
            <a:prstDash val="solid"/>
          </a:ln>
        </p:spPr>
      </p:sp>
      <p:sp>
        <p:nvSpPr>
          <p:cNvPr id="7" name="Text 4"/>
          <p:cNvSpPr txBox="1"/>
          <p:nvPr/>
        </p:nvSpPr>
        <p:spPr>
          <a:xfrm>
            <a:off x="813816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8732520" y="1993392"/>
            <a:ext cx="2880360" cy="365760"/>
          </a:xfrm>
          <a:prstGeom prst="rect">
            <a:avLst/>
          </a:prstGeom>
          <a:noFill/>
          <a:ln/>
        </p:spPr>
        <p:txBody>
          <a:bodyPr wrap="square" lIns="0" tIns="0" rIns="0" bIns="0" rtlCol="0" anchor="t"/>
          <a:lstStyle/>
          <a:p>
            <a:pPr indent="0" marL="0">
              <a:buNone/>
            </a:pPr>
            <a:r>
              <a:rPr lang="en-US" sz="1800" b="1" dirty="0">
                <a:solidFill>
                  <a:schemeClr val="tx1"/>
                </a:solidFill>
              </a:rPr>
              <a:t>One access code</a:t>
            </a:r>
            <a:endParaRPr lang="en-US" sz="1800" dirty="0"/>
          </a:p>
        </p:txBody>
      </p:sp>
      <p:sp>
        <p:nvSpPr>
          <p:cNvPr id="9" name="Text 6"/>
          <p:cNvSpPr txBox="1"/>
          <p:nvPr/>
        </p:nvSpPr>
        <p:spPr>
          <a:xfrm>
            <a:off x="8732520" y="239572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The freelancer shares a code per project; replacing it revokes access.</a:t>
            </a:r>
            <a:endParaRPr lang="en-US" sz="1500" dirty="0"/>
          </a:p>
        </p:txBody>
      </p:sp>
      <p:sp>
        <p:nvSpPr>
          <p:cNvPr id="10" name="Shape 7"/>
          <p:cNvSpPr/>
          <p:nvPr/>
        </p:nvSpPr>
        <p:spPr>
          <a:xfrm>
            <a:off x="8138160" y="333756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8138160" y="3337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8732520" y="3319272"/>
            <a:ext cx="2880360" cy="365760"/>
          </a:xfrm>
          <a:prstGeom prst="rect">
            <a:avLst/>
          </a:prstGeom>
          <a:noFill/>
          <a:ln/>
        </p:spPr>
        <p:txBody>
          <a:bodyPr wrap="square" lIns="0" tIns="0" rIns="0" bIns="0" rtlCol="0" anchor="t"/>
          <a:lstStyle/>
          <a:p>
            <a:pPr indent="0" marL="0">
              <a:buNone/>
            </a:pPr>
            <a:r>
              <a:rPr lang="en-US" sz="1800" b="1" dirty="0">
                <a:solidFill>
                  <a:schemeClr val="tx1"/>
                </a:solidFill>
              </a:rPr>
              <a:t>Minimal data</a:t>
            </a:r>
            <a:endParaRPr lang="en-US" sz="1800" dirty="0"/>
          </a:p>
        </p:txBody>
      </p:sp>
      <p:sp>
        <p:nvSpPr>
          <p:cNvPr id="13" name="Text 10"/>
          <p:cNvSpPr txBox="1"/>
          <p:nvPr/>
        </p:nvSpPr>
        <p:spPr>
          <a:xfrm>
            <a:off x="8732520" y="372160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Clients see approved stories only, never workspace or internal data.</a:t>
            </a:r>
            <a:endParaRPr lang="en-US" sz="1500" dirty="0"/>
          </a:p>
        </p:txBody>
      </p:sp>
      <p:sp>
        <p:nvSpPr>
          <p:cNvPr id="14" name="Shape 11"/>
          <p:cNvSpPr/>
          <p:nvPr/>
        </p:nvSpPr>
        <p:spPr>
          <a:xfrm>
            <a:off x="8138160" y="4663440"/>
            <a:ext cx="411480" cy="411480"/>
          </a:xfrm>
          <a:prstGeom prst="ellipse">
            <a:avLst/>
          </a:prstGeom>
          <a:solidFill>
            <a:schemeClr val="accent1"/>
          </a:solidFill>
          <a:ln w="12700">
            <a:solidFill>
              <a:schemeClr val="accent1"/>
            </a:solidFill>
            <a:prstDash val="solid"/>
          </a:ln>
        </p:spPr>
      </p:sp>
      <p:sp>
        <p:nvSpPr>
          <p:cNvPr id="15" name="Text 12"/>
          <p:cNvSpPr txBox="1"/>
          <p:nvPr/>
        </p:nvSpPr>
        <p:spPr>
          <a:xfrm>
            <a:off x="8138160" y="4663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8732520" y="4645152"/>
            <a:ext cx="2880360" cy="365760"/>
          </a:xfrm>
          <a:prstGeom prst="rect">
            <a:avLst/>
          </a:prstGeom>
          <a:noFill/>
          <a:ln/>
        </p:spPr>
        <p:txBody>
          <a:bodyPr wrap="square" lIns="0" tIns="0" rIns="0" bIns="0" rtlCol="0" anchor="t"/>
          <a:lstStyle/>
          <a:p>
            <a:pPr indent="0" marL="0">
              <a:buNone/>
            </a:pPr>
            <a:r>
              <a:rPr lang="en-US" sz="1800" b="1" dirty="0">
                <a:solidFill>
                  <a:schemeClr val="tx1"/>
                </a:solidFill>
              </a:rPr>
              <a:t>Shared project view</a:t>
            </a:r>
            <a:endParaRPr lang="en-US" sz="1800" dirty="0"/>
          </a:p>
        </p:txBody>
      </p:sp>
      <p:sp>
        <p:nvSpPr>
          <p:cNvPr id="17" name="Text 14"/>
          <p:cNvSpPr txBox="1"/>
          <p:nvPr/>
        </p:nvSpPr>
        <p:spPr>
          <a:xfrm>
            <a:off x="8732520" y="5047488"/>
            <a:ext cx="2880360" cy="896112"/>
          </a:xfrm>
          <a:prstGeom prst="rect">
            <a:avLst/>
          </a:prstGeom>
          <a:noFill/>
          <a:ln/>
        </p:spPr>
        <p:txBody>
          <a:bodyPr wrap="square" lIns="0" tIns="0" rIns="0" bIns="0" rtlCol="0" anchor="t"/>
          <a:lstStyle/>
          <a:p>
            <a:pPr indent="0" marL="0">
              <a:buNone/>
            </a:pPr>
            <a:r>
              <a:rPr lang="en-US" sz="1500" dirty="0">
                <a:solidFill>
                  <a:schemeClr val="accent6"/>
                </a:solidFill>
              </a:rPr>
              <a:t>Clients see the latest approved backlog when they reload.</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
        <p:nvSpPr>
          <p:cNvPr id="26" name="Review text 26"/>
          <p:cNvSpPr txBox="1"/>
          <p:nvPr/>
        </p:nvSpPr>
        <p:spPr>
          <a:xfrm>
            <a:off x="603504" y="6108192"/>
            <a:ext cx="10789920" cy="219456"/>
          </a:xfrm>
          <a:prstGeom prst="rect">
            <a:avLst/>
          </a:prstGeom>
          <a:noFill/>
          <a:ln>
            <a:noFill/>
          </a:ln>
        </p:spPr>
        <p:txBody>
          <a:bodyPr wrap="square" lIns="0" tIns="0" rIns="0" bIns="0" anchor="t"/>
          <a:lstStyle/>
          <a:p>
            <a:pPr algn="l">
              <a:buNone/>
            </a:pPr>
            <a:r>
              <a:rPr lang="en-US" sz="1100" b="0">
                <a:solidFill>
                  <a:schemeClr val="accent6"/>
                </a:solidFill>
              </a:rPr>
              <a:t>Illustrative UI walkthrough · fictional data · mocked API responses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 modular monolith with Clean Architecture</a:t>
            </a:r>
            <a:endParaRPr lang="en-US" sz="3200" dirty="0"/>
          </a:p>
        </p:txBody>
      </p:sp>
      <p:sp>
        <p:nvSpPr>
          <p:cNvPr id="3" name="layer-outer"/>
          <p:cNvSpPr/>
          <p:nvPr/>
        </p:nvSpPr>
        <p:spPr>
          <a:xfrm>
            <a:off x="548640" y="1371600"/>
            <a:ext cx="5486400" cy="4572000"/>
          </a:xfrm>
          <a:prstGeom prst="roundRect">
            <a:avLst>
              <a:gd name="adj" fmla="val 3000"/>
            </a:avLst>
          </a:prstGeom>
          <a:solidFill>
            <a:schemeClr val="bg2"/>
          </a:solidFill>
          <a:ln w="12700">
            <a:solidFill>
              <a:srgbClr val="D6E5FB"/>
            </a:solidFill>
            <a:prstDash val="solid"/>
          </a:ln>
        </p:spPr>
      </p:sp>
      <p:sp>
        <p:nvSpPr>
          <p:cNvPr id="4" name="Text 2"/>
          <p:cNvSpPr txBox="1"/>
          <p:nvPr/>
        </p:nvSpPr>
        <p:spPr>
          <a:xfrm>
            <a:off x="822960" y="1536192"/>
            <a:ext cx="4937760" cy="365760"/>
          </a:xfrm>
          <a:prstGeom prst="rect">
            <a:avLst/>
          </a:prstGeom>
          <a:noFill/>
          <a:ln/>
        </p:spPr>
        <p:txBody>
          <a:bodyPr wrap="square" lIns="0" tIns="0" rIns="0" bIns="0" rtlCol="0" anchor="t"/>
          <a:lstStyle/>
          <a:p>
            <a:pPr indent="0" marL="0">
              <a:buNone/>
            </a:pPr>
            <a:r>
              <a:rPr lang="en-US" sz="1800" b="1" dirty="0">
                <a:solidFill>
                  <a:schemeClr val="tx1"/>
                </a:solidFill>
              </a:rPr>
              <a:t>Presentation &amp; Infrastructure</a:t>
            </a:r>
            <a:endParaRPr lang="en-US" sz="1800" dirty="0"/>
          </a:p>
        </p:txBody>
      </p:sp>
      <p:sp>
        <p:nvSpPr>
          <p:cNvPr id="5" name="Text 3"/>
          <p:cNvSpPr txBox="1"/>
          <p:nvPr/>
        </p:nvSpPr>
        <p:spPr>
          <a:xfrm>
            <a:off x="822960" y="1901952"/>
            <a:ext cx="4937760" cy="365760"/>
          </a:xfrm>
          <a:prstGeom prst="rect">
            <a:avLst/>
          </a:prstGeom>
          <a:noFill/>
          <a:ln/>
        </p:spPr>
        <p:txBody>
          <a:bodyPr wrap="square" lIns="0" tIns="0" rIns="0" bIns="0" rtlCol="0" anchor="t"/>
          <a:lstStyle/>
          <a:p>
            <a:pPr indent="0" marL="0">
              <a:buNone/>
            </a:pPr>
            <a:r>
              <a:rPr lang="en-US" sz="1400" dirty="0">
                <a:solidFill>
                  <a:schemeClr val="accent6"/>
                </a:solidFill>
              </a:rPr>
              <a:t>FastAPI routers · SQLAlchemy repositories · AI and email adapters</a:t>
            </a:r>
            <a:endParaRPr lang="en-US" sz="1400" dirty="0"/>
          </a:p>
        </p:txBody>
      </p:sp>
      <p:sp>
        <p:nvSpPr>
          <p:cNvPr id="6" name="layer-application"/>
          <p:cNvSpPr/>
          <p:nvPr/>
        </p:nvSpPr>
        <p:spPr>
          <a:xfrm>
            <a:off x="1005840" y="2468880"/>
            <a:ext cx="4572000" cy="3200400"/>
          </a:xfrm>
          <a:prstGeom prst="roundRect">
            <a:avLst>
              <a:gd name="adj" fmla="val 4286"/>
            </a:avLst>
          </a:prstGeom>
          <a:solidFill>
            <a:srgbClr val="E3EDFB"/>
          </a:solidFill>
          <a:ln w="12700">
            <a:solidFill>
              <a:srgbClr val="D6E5FB"/>
            </a:solidFill>
            <a:prstDash val="solid"/>
          </a:ln>
        </p:spPr>
      </p:sp>
      <p:sp>
        <p:nvSpPr>
          <p:cNvPr id="7" name="Text 5"/>
          <p:cNvSpPr txBox="1"/>
          <p:nvPr/>
        </p:nvSpPr>
        <p:spPr>
          <a:xfrm>
            <a:off x="1280160" y="2606040"/>
            <a:ext cx="4023360" cy="365760"/>
          </a:xfrm>
          <a:prstGeom prst="rect">
            <a:avLst/>
          </a:prstGeom>
          <a:noFill/>
          <a:ln/>
        </p:spPr>
        <p:txBody>
          <a:bodyPr wrap="square" lIns="0" tIns="0" rIns="0" bIns="0" rtlCol="0" anchor="t"/>
          <a:lstStyle/>
          <a:p>
            <a:pPr indent="0" marL="0">
              <a:buNone/>
            </a:pPr>
            <a:r>
              <a:rPr lang="en-US" sz="1800" b="1" dirty="0">
                <a:solidFill>
                  <a:schemeClr val="tx1"/>
                </a:solidFill>
              </a:rPr>
              <a:t>Application</a:t>
            </a:r>
            <a:endParaRPr lang="en-US" sz="1800" dirty="0"/>
          </a:p>
        </p:txBody>
      </p:sp>
      <p:sp>
        <p:nvSpPr>
          <p:cNvPr id="8" name="Text 6"/>
          <p:cNvSpPr txBox="1"/>
          <p:nvPr/>
        </p:nvSpPr>
        <p:spPr>
          <a:xfrm>
            <a:off x="1280160" y="2971800"/>
            <a:ext cx="4023360" cy="365760"/>
          </a:xfrm>
          <a:prstGeom prst="rect">
            <a:avLst/>
          </a:prstGeom>
          <a:noFill/>
          <a:ln/>
        </p:spPr>
        <p:txBody>
          <a:bodyPr wrap="square" lIns="0" tIns="0" rIns="0" bIns="0" rtlCol="0" anchor="t"/>
          <a:lstStyle/>
          <a:p>
            <a:pPr indent="0" marL="0">
              <a:buNone/>
            </a:pPr>
            <a:r>
              <a:rPr lang="en-US" sz="1400" dirty="0">
                <a:solidFill>
                  <a:schemeClr val="accent6"/>
                </a:solidFill>
              </a:rPr>
              <a:t>Use cases · ports · DTOs</a:t>
            </a:r>
            <a:endParaRPr lang="en-US" sz="1400" dirty="0"/>
          </a:p>
        </p:txBody>
      </p:sp>
      <p:sp>
        <p:nvSpPr>
          <p:cNvPr id="9" name="layer-domain"/>
          <p:cNvSpPr/>
          <p:nvPr/>
        </p:nvSpPr>
        <p:spPr>
          <a:xfrm>
            <a:off x="1463040" y="3566160"/>
            <a:ext cx="3657600" cy="1828800"/>
          </a:xfrm>
          <a:prstGeom prst="roundRect">
            <a:avLst>
              <a:gd name="adj" fmla="val 7500"/>
            </a:avLst>
          </a:prstGeom>
          <a:solidFill>
            <a:schemeClr val="accent1"/>
          </a:solidFill>
          <a:ln w="12700">
            <a:solidFill>
              <a:schemeClr val="accent1"/>
            </a:solidFill>
            <a:prstDash val="solid"/>
          </a:ln>
        </p:spPr>
      </p:sp>
      <p:sp>
        <p:nvSpPr>
          <p:cNvPr id="10" name="Text 8"/>
          <p:cNvSpPr txBox="1"/>
          <p:nvPr/>
        </p:nvSpPr>
        <p:spPr>
          <a:xfrm>
            <a:off x="1737360" y="3886200"/>
            <a:ext cx="3108960" cy="411480"/>
          </a:xfrm>
          <a:prstGeom prst="rect">
            <a:avLst/>
          </a:prstGeom>
          <a:noFill/>
          <a:ln/>
        </p:spPr>
        <p:txBody>
          <a:bodyPr wrap="square" lIns="0" tIns="0" rIns="0" bIns="0" rtlCol="0" anchor="t"/>
          <a:lstStyle/>
          <a:p>
            <a:pPr indent="0" marL="0">
              <a:buNone/>
            </a:pPr>
            <a:r>
              <a:rPr lang="en-US" sz="2000" b="1" dirty="0">
                <a:solidFill>
                  <a:schemeClr val="bg1"/>
                </a:solidFill>
              </a:rPr>
              <a:t>Domain</a:t>
            </a:r>
            <a:endParaRPr lang="en-US" sz="2000" dirty="0"/>
          </a:p>
        </p:txBody>
      </p:sp>
      <p:sp>
        <p:nvSpPr>
          <p:cNvPr id="11" name="Text 9"/>
          <p:cNvSpPr txBox="1"/>
          <p:nvPr/>
        </p:nvSpPr>
        <p:spPr>
          <a:xfrm>
            <a:off x="1737360" y="4343400"/>
            <a:ext cx="3108960" cy="822960"/>
          </a:xfrm>
          <a:prstGeom prst="rect">
            <a:avLst/>
          </a:prstGeom>
          <a:noFill/>
          <a:ln/>
        </p:spPr>
        <p:txBody>
          <a:bodyPr wrap="square" lIns="0" tIns="0" rIns="0" bIns="0" rtlCol="0" anchor="t"/>
          <a:lstStyle/>
          <a:p>
            <a:pPr indent="0" marL="0">
              <a:buNone/>
            </a:pPr>
            <a:r>
              <a:rPr lang="en-US" sz="1400" dirty="0">
                <a:solidFill>
                  <a:schemeClr val="bg1"/>
                </a:solidFill>
              </a:rPr>
              <a:t>Entities · value objects · business rules. No framework imports.</a:t>
            </a:r>
            <a:endParaRPr lang="en-US" sz="1400" dirty="0"/>
          </a:p>
        </p:txBody>
      </p:sp>
      <p:sp>
        <p:nvSpPr>
          <p:cNvPr id="12" name="Text 10"/>
          <p:cNvSpPr txBox="1"/>
          <p:nvPr/>
        </p:nvSpPr>
        <p:spPr>
          <a:xfrm>
            <a:off x="6492240" y="1417320"/>
            <a:ext cx="5120640" cy="411480"/>
          </a:xfrm>
          <a:prstGeom prst="rect">
            <a:avLst/>
          </a:prstGeom>
          <a:noFill/>
          <a:ln/>
        </p:spPr>
        <p:txBody>
          <a:bodyPr wrap="square" lIns="0" tIns="0" rIns="0" bIns="0" rtlCol="0" anchor="t"/>
          <a:lstStyle/>
          <a:p>
            <a:pPr indent="0" marL="0">
              <a:buNone/>
            </a:pPr>
            <a:r>
              <a:rPr lang="en-US" sz="1800" b="1" dirty="0">
                <a:solidFill>
                  <a:schemeClr val="tx1"/>
                </a:solidFill>
              </a:rPr>
              <a:t>11 feature slices, same four layers</a:t>
            </a:r>
            <a:endParaRPr lang="en-US" sz="1800" dirty="0"/>
          </a:p>
        </p:txBody>
      </p:sp>
      <p:sp>
        <p:nvSpPr>
          <p:cNvPr id="13" name="Shape 11"/>
          <p:cNvSpPr/>
          <p:nvPr/>
        </p:nvSpPr>
        <p:spPr>
          <a:xfrm>
            <a:off x="6492240" y="1965960"/>
            <a:ext cx="2468880" cy="384048"/>
          </a:xfrm>
          <a:prstGeom prst="roundRect">
            <a:avLst>
              <a:gd name="adj" fmla="val 19048"/>
            </a:avLst>
          </a:prstGeom>
          <a:solidFill>
            <a:schemeClr val="bg2"/>
          </a:solidFill>
          <a:ln w="12700">
            <a:solidFill>
              <a:srgbClr val="D6E5FB"/>
            </a:solidFill>
            <a:prstDash val="solid"/>
          </a:ln>
        </p:spPr>
      </p:sp>
      <p:sp>
        <p:nvSpPr>
          <p:cNvPr id="14" name="Text 12"/>
          <p:cNvSpPr txBox="1"/>
          <p:nvPr/>
        </p:nvSpPr>
        <p:spPr>
          <a:xfrm>
            <a:off x="6492240" y="196596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auth</a:t>
            </a:r>
            <a:endParaRPr lang="en-US" sz="1400" dirty="0"/>
          </a:p>
        </p:txBody>
      </p:sp>
      <p:sp>
        <p:nvSpPr>
          <p:cNvPr id="15" name="Shape 13"/>
          <p:cNvSpPr/>
          <p:nvPr/>
        </p:nvSpPr>
        <p:spPr>
          <a:xfrm>
            <a:off x="9098280" y="1965960"/>
            <a:ext cx="2468880" cy="384048"/>
          </a:xfrm>
          <a:prstGeom prst="roundRect">
            <a:avLst>
              <a:gd name="adj" fmla="val 19048"/>
            </a:avLst>
          </a:prstGeom>
          <a:solidFill>
            <a:schemeClr val="bg2"/>
          </a:solidFill>
          <a:ln w="12700">
            <a:solidFill>
              <a:srgbClr val="D6E5FB"/>
            </a:solidFill>
            <a:prstDash val="solid"/>
          </a:ln>
        </p:spPr>
      </p:sp>
      <p:sp>
        <p:nvSpPr>
          <p:cNvPr id="16" name="Text 14"/>
          <p:cNvSpPr txBox="1"/>
          <p:nvPr/>
        </p:nvSpPr>
        <p:spPr>
          <a:xfrm>
            <a:off x="9098280" y="196596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user</a:t>
            </a:r>
            <a:endParaRPr lang="en-US" sz="1400" dirty="0"/>
          </a:p>
        </p:txBody>
      </p:sp>
      <p:sp>
        <p:nvSpPr>
          <p:cNvPr id="17" name="Shape 15"/>
          <p:cNvSpPr/>
          <p:nvPr/>
        </p:nvSpPr>
        <p:spPr>
          <a:xfrm>
            <a:off x="6492240" y="2468880"/>
            <a:ext cx="2468880" cy="384048"/>
          </a:xfrm>
          <a:prstGeom prst="roundRect">
            <a:avLst>
              <a:gd name="adj" fmla="val 19048"/>
            </a:avLst>
          </a:prstGeom>
          <a:solidFill>
            <a:schemeClr val="bg2"/>
          </a:solidFill>
          <a:ln w="12700">
            <a:solidFill>
              <a:srgbClr val="D6E5FB"/>
            </a:solidFill>
            <a:prstDash val="solid"/>
          </a:ln>
        </p:spPr>
      </p:sp>
      <p:sp>
        <p:nvSpPr>
          <p:cNvPr id="18" name="Text 16"/>
          <p:cNvSpPr txBox="1"/>
          <p:nvPr/>
        </p:nvSpPr>
        <p:spPr>
          <a:xfrm>
            <a:off x="6492240" y="246888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workspaces</a:t>
            </a:r>
            <a:endParaRPr lang="en-US" sz="1400" dirty="0"/>
          </a:p>
        </p:txBody>
      </p:sp>
      <p:sp>
        <p:nvSpPr>
          <p:cNvPr id="19" name="Shape 17"/>
          <p:cNvSpPr/>
          <p:nvPr/>
        </p:nvSpPr>
        <p:spPr>
          <a:xfrm>
            <a:off x="9098280" y="2468880"/>
            <a:ext cx="2468880" cy="384048"/>
          </a:xfrm>
          <a:prstGeom prst="roundRect">
            <a:avLst>
              <a:gd name="adj" fmla="val 19048"/>
            </a:avLst>
          </a:prstGeom>
          <a:solidFill>
            <a:schemeClr val="bg2"/>
          </a:solidFill>
          <a:ln w="12700">
            <a:solidFill>
              <a:srgbClr val="D6E5FB"/>
            </a:solidFill>
            <a:prstDash val="solid"/>
          </a:ln>
        </p:spPr>
      </p:sp>
      <p:sp>
        <p:nvSpPr>
          <p:cNvPr id="20" name="Text 18"/>
          <p:cNvSpPr txBox="1"/>
          <p:nvPr/>
        </p:nvSpPr>
        <p:spPr>
          <a:xfrm>
            <a:off x="9098280" y="246888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clients</a:t>
            </a:r>
            <a:endParaRPr lang="en-US" sz="1400" dirty="0"/>
          </a:p>
        </p:txBody>
      </p:sp>
      <p:sp>
        <p:nvSpPr>
          <p:cNvPr id="21" name="Shape 19"/>
          <p:cNvSpPr/>
          <p:nvPr/>
        </p:nvSpPr>
        <p:spPr>
          <a:xfrm>
            <a:off x="6492240" y="2971800"/>
            <a:ext cx="2468880" cy="384048"/>
          </a:xfrm>
          <a:prstGeom prst="roundRect">
            <a:avLst>
              <a:gd name="adj" fmla="val 19048"/>
            </a:avLst>
          </a:prstGeom>
          <a:solidFill>
            <a:schemeClr val="bg2"/>
          </a:solidFill>
          <a:ln w="12700">
            <a:solidFill>
              <a:srgbClr val="D6E5FB"/>
            </a:solidFill>
            <a:prstDash val="solid"/>
          </a:ln>
        </p:spPr>
      </p:sp>
      <p:sp>
        <p:nvSpPr>
          <p:cNvPr id="22" name="Text 20"/>
          <p:cNvSpPr txBox="1"/>
          <p:nvPr/>
        </p:nvSpPr>
        <p:spPr>
          <a:xfrm>
            <a:off x="6492240" y="297180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projects</a:t>
            </a:r>
            <a:endParaRPr lang="en-US" sz="1400" dirty="0"/>
          </a:p>
        </p:txBody>
      </p:sp>
      <p:sp>
        <p:nvSpPr>
          <p:cNvPr id="23" name="Shape 21"/>
          <p:cNvSpPr/>
          <p:nvPr/>
        </p:nvSpPr>
        <p:spPr>
          <a:xfrm>
            <a:off x="9098280" y="2971800"/>
            <a:ext cx="2468880" cy="384048"/>
          </a:xfrm>
          <a:prstGeom prst="roundRect">
            <a:avLst>
              <a:gd name="adj" fmla="val 19048"/>
            </a:avLst>
          </a:prstGeom>
          <a:solidFill>
            <a:schemeClr val="bg2"/>
          </a:solidFill>
          <a:ln w="12700">
            <a:solidFill>
              <a:srgbClr val="D6E5FB"/>
            </a:solidFill>
            <a:prstDash val="solid"/>
          </a:ln>
        </p:spPr>
      </p:sp>
      <p:sp>
        <p:nvSpPr>
          <p:cNvPr id="24" name="Text 22"/>
          <p:cNvSpPr txBox="1"/>
          <p:nvPr/>
        </p:nvSpPr>
        <p:spPr>
          <a:xfrm>
            <a:off x="9098280" y="297180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refinement</a:t>
            </a:r>
            <a:endParaRPr lang="en-US" sz="1400" dirty="0"/>
          </a:p>
        </p:txBody>
      </p:sp>
      <p:sp>
        <p:nvSpPr>
          <p:cNvPr id="25" name="Shape 23"/>
          <p:cNvSpPr/>
          <p:nvPr/>
        </p:nvSpPr>
        <p:spPr>
          <a:xfrm>
            <a:off x="6492240" y="3474720"/>
            <a:ext cx="2468880" cy="384048"/>
          </a:xfrm>
          <a:prstGeom prst="roundRect">
            <a:avLst>
              <a:gd name="adj" fmla="val 19048"/>
            </a:avLst>
          </a:prstGeom>
          <a:solidFill>
            <a:schemeClr val="bg2"/>
          </a:solidFill>
          <a:ln w="12700">
            <a:solidFill>
              <a:srgbClr val="D6E5FB"/>
            </a:solidFill>
            <a:prstDash val="solid"/>
          </a:ln>
        </p:spPr>
      </p:sp>
      <p:sp>
        <p:nvSpPr>
          <p:cNvPr id="26" name="Text 24"/>
          <p:cNvSpPr txBox="1"/>
          <p:nvPr/>
        </p:nvSpPr>
        <p:spPr>
          <a:xfrm>
            <a:off x="6492240" y="347472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stories</a:t>
            </a:r>
            <a:endParaRPr lang="en-US" sz="1400" dirty="0"/>
          </a:p>
        </p:txBody>
      </p:sp>
      <p:sp>
        <p:nvSpPr>
          <p:cNvPr id="27" name="Shape 25"/>
          <p:cNvSpPr/>
          <p:nvPr/>
        </p:nvSpPr>
        <p:spPr>
          <a:xfrm>
            <a:off x="9098280" y="3474720"/>
            <a:ext cx="2468880" cy="384048"/>
          </a:xfrm>
          <a:prstGeom prst="roundRect">
            <a:avLst>
              <a:gd name="adj" fmla="val 19048"/>
            </a:avLst>
          </a:prstGeom>
          <a:solidFill>
            <a:schemeClr val="bg2"/>
          </a:solidFill>
          <a:ln w="12700">
            <a:solidFill>
              <a:srgbClr val="D6E5FB"/>
            </a:solidFill>
            <a:prstDash val="solid"/>
          </a:ln>
        </p:spPr>
      </p:sp>
      <p:sp>
        <p:nvSpPr>
          <p:cNvPr id="28" name="Text 26"/>
          <p:cNvSpPr txBox="1"/>
          <p:nvPr/>
        </p:nvSpPr>
        <p:spPr>
          <a:xfrm>
            <a:off x="9098280" y="347472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backlog</a:t>
            </a:r>
            <a:endParaRPr lang="en-US" sz="1400" dirty="0"/>
          </a:p>
        </p:txBody>
      </p:sp>
      <p:sp>
        <p:nvSpPr>
          <p:cNvPr id="29" name="Shape 27"/>
          <p:cNvSpPr/>
          <p:nvPr/>
        </p:nvSpPr>
        <p:spPr>
          <a:xfrm>
            <a:off x="6492240" y="3977640"/>
            <a:ext cx="2468880" cy="384048"/>
          </a:xfrm>
          <a:prstGeom prst="roundRect">
            <a:avLst>
              <a:gd name="adj" fmla="val 19048"/>
            </a:avLst>
          </a:prstGeom>
          <a:solidFill>
            <a:schemeClr val="bg2"/>
          </a:solidFill>
          <a:ln w="12700">
            <a:solidFill>
              <a:srgbClr val="D6E5FB"/>
            </a:solidFill>
            <a:prstDash val="solid"/>
          </a:ln>
        </p:spPr>
      </p:sp>
      <p:sp>
        <p:nvSpPr>
          <p:cNvPr id="30" name="Text 28"/>
          <p:cNvSpPr txBox="1"/>
          <p:nvPr/>
        </p:nvSpPr>
        <p:spPr>
          <a:xfrm>
            <a:off x="6492240" y="397764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client_review</a:t>
            </a:r>
            <a:endParaRPr lang="en-US" sz="1400" dirty="0"/>
          </a:p>
        </p:txBody>
      </p:sp>
      <p:sp>
        <p:nvSpPr>
          <p:cNvPr id="31" name="Shape 29"/>
          <p:cNvSpPr/>
          <p:nvPr/>
        </p:nvSpPr>
        <p:spPr>
          <a:xfrm>
            <a:off x="9098280" y="3977640"/>
            <a:ext cx="2468880" cy="384048"/>
          </a:xfrm>
          <a:prstGeom prst="roundRect">
            <a:avLst>
              <a:gd name="adj" fmla="val 19048"/>
            </a:avLst>
          </a:prstGeom>
          <a:solidFill>
            <a:schemeClr val="bg2"/>
          </a:solidFill>
          <a:ln w="12700">
            <a:solidFill>
              <a:srgbClr val="D6E5FB"/>
            </a:solidFill>
            <a:prstDash val="solid"/>
          </a:ln>
        </p:spPr>
      </p:sp>
      <p:sp>
        <p:nvSpPr>
          <p:cNvPr id="32" name="Text 30"/>
          <p:cNvSpPr txBox="1"/>
          <p:nvPr/>
        </p:nvSpPr>
        <p:spPr>
          <a:xfrm>
            <a:off x="9098280" y="397764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ai_config</a:t>
            </a:r>
            <a:endParaRPr lang="en-US" sz="1400" dirty="0"/>
          </a:p>
        </p:txBody>
      </p:sp>
      <p:sp>
        <p:nvSpPr>
          <p:cNvPr id="33" name="Shape 31"/>
          <p:cNvSpPr/>
          <p:nvPr/>
        </p:nvSpPr>
        <p:spPr>
          <a:xfrm>
            <a:off x="6492240" y="4480560"/>
            <a:ext cx="2468880" cy="384048"/>
          </a:xfrm>
          <a:prstGeom prst="roundRect">
            <a:avLst>
              <a:gd name="adj" fmla="val 19048"/>
            </a:avLst>
          </a:prstGeom>
          <a:solidFill>
            <a:schemeClr val="bg2"/>
          </a:solidFill>
          <a:ln w="12700">
            <a:solidFill>
              <a:srgbClr val="D6E5FB"/>
            </a:solidFill>
            <a:prstDash val="solid"/>
          </a:ln>
        </p:spPr>
      </p:sp>
      <p:sp>
        <p:nvSpPr>
          <p:cNvPr id="34" name="Text 32"/>
          <p:cNvSpPr txBox="1"/>
          <p:nvPr/>
        </p:nvSpPr>
        <p:spPr>
          <a:xfrm>
            <a:off x="6492240" y="4480560"/>
            <a:ext cx="2468880"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dashboard</a:t>
            </a:r>
            <a:endParaRPr lang="en-US" sz="1400" dirty="0"/>
          </a:p>
        </p:txBody>
      </p:sp>
      <p:sp>
        <p:nvSpPr>
          <p:cNvPr id="35" name="Text 33"/>
          <p:cNvSpPr txBox="1"/>
          <p:nvPr/>
        </p:nvSpPr>
        <p:spPr>
          <a:xfrm>
            <a:off x="6492240" y="5074920"/>
            <a:ext cx="5120640" cy="868680"/>
          </a:xfrm>
          <a:prstGeom prst="rect">
            <a:avLst/>
          </a:prstGeom>
          <a:noFill/>
          <a:ln/>
        </p:spPr>
        <p:txBody>
          <a:bodyPr wrap="square" lIns="0" tIns="0" rIns="0" bIns="0" rtlCol="0" anchor="t"/>
          <a:lstStyle/>
          <a:p>
            <a:pPr indent="0" marL="0">
              <a:buNone/>
            </a:pPr>
            <a:r>
              <a:rPr lang="en-US" sz="1400" dirty="0">
                <a:solidFill>
                  <a:schemeClr val="accent6"/>
                </a:solidFill>
              </a:rPr>
              <a:t>Dependencies point inward; one composition root wires the adapters. The React app mirrors it with feature slices and RTK Query at the API boundary.</a:t>
            </a:r>
            <a:endParaRPr lang="en-US" sz="1400" dirty="0"/>
          </a:p>
        </p:txBody>
      </p:sp>
      <p:sp>
        <p:nvSpPr>
          <p:cNvPr id="36"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Production: Cloudflare edge + one EC2 host</a:t>
            </a:r>
            <a:endParaRPr lang="en-US" sz="3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
        <p:nvSpPr>
          <p:cNvPr id="26" name="Review panel 26"/>
          <p:cNvSpPr/>
          <p:nvPr/>
        </p:nvSpPr>
        <p:spPr>
          <a:xfrm>
            <a:off x="548640" y="2560320"/>
            <a:ext cx="1234440" cy="822960"/>
          </a:xfrm>
          <a:prstGeom prst="roundRect">
            <a:avLst>
              <a:gd name="adj" fmla="val 4500"/>
            </a:avLst>
          </a:prstGeom>
          <a:solidFill>
            <a:schemeClr val="bg1"/>
          </a:solidFill>
          <a:ln w="12700">
            <a:solidFill>
              <a:srgbClr val="D6E5FB"/>
            </a:solidFill>
          </a:ln>
        </p:spPr>
      </p:sp>
      <p:sp>
        <p:nvSpPr>
          <p:cNvPr id="27" name="Review text 27"/>
          <p:cNvSpPr txBox="1"/>
          <p:nvPr/>
        </p:nvSpPr>
        <p:spPr>
          <a:xfrm>
            <a:off x="548640" y="2560320"/>
            <a:ext cx="1234440" cy="822960"/>
          </a:xfrm>
          <a:prstGeom prst="rect">
            <a:avLst/>
          </a:prstGeom>
          <a:noFill/>
          <a:ln>
            <a:noFill/>
          </a:ln>
        </p:spPr>
        <p:txBody>
          <a:bodyPr wrap="square" lIns="0" tIns="0" rIns="0" bIns="0" anchor="ctr"/>
          <a:lstStyle/>
          <a:p>
            <a:pPr algn="ctr">
              <a:buNone/>
            </a:pPr>
            <a:r>
              <a:rPr lang="en-US" sz="1400" b="1">
                <a:solidFill>
                  <a:schemeClr val="tx1"/>
                </a:solidFill>
              </a:rPr>
              <a:t>Users'</a:t>
            </a:r>
            <a:endParaRPr lang="en-US" sz="1400"/>
          </a:p>
          <a:p>
            <a:pPr algn="ctr">
              <a:buNone/>
            </a:pPr>
            <a:r>
              <a:rPr lang="en-US" sz="1400" b="1">
                <a:solidFill>
                  <a:schemeClr val="tx1"/>
                </a:solidFill>
              </a:rPr>
              <a:t>browser</a:t>
            </a:r>
            <a:endParaRPr lang="en-US" sz="1400"/>
          </a:p>
        </p:txBody>
      </p:sp>
      <p:sp>
        <p:nvSpPr>
          <p:cNvPr id="28" name="Review panel 28"/>
          <p:cNvSpPr/>
          <p:nvPr/>
        </p:nvSpPr>
        <p:spPr>
          <a:xfrm>
            <a:off x="2331720" y="1325880"/>
            <a:ext cx="3063240" cy="3291840"/>
          </a:xfrm>
          <a:prstGeom prst="roundRect">
            <a:avLst>
              <a:gd name="adj" fmla="val 4500"/>
            </a:avLst>
          </a:prstGeom>
          <a:solidFill>
            <a:schemeClr val="bg2"/>
          </a:solidFill>
          <a:ln w="12700">
            <a:solidFill>
              <a:srgbClr val="D6E5FB"/>
            </a:solidFill>
          </a:ln>
        </p:spPr>
      </p:sp>
      <p:sp>
        <p:nvSpPr>
          <p:cNvPr id="29" name="Review text 29"/>
          <p:cNvSpPr txBox="1"/>
          <p:nvPr/>
        </p:nvSpPr>
        <p:spPr>
          <a:xfrm>
            <a:off x="2514600" y="1463040"/>
            <a:ext cx="2697480" cy="320040"/>
          </a:xfrm>
          <a:prstGeom prst="rect">
            <a:avLst/>
          </a:prstGeom>
          <a:noFill/>
          <a:ln>
            <a:noFill/>
          </a:ln>
        </p:spPr>
        <p:txBody>
          <a:bodyPr wrap="square" lIns="0" tIns="0" rIns="0" bIns="0" anchor="t"/>
          <a:lstStyle/>
          <a:p>
            <a:pPr algn="l">
              <a:buNone/>
            </a:pPr>
            <a:r>
              <a:rPr lang="en-US" sz="1600" b="1">
                <a:solidFill>
                  <a:schemeClr val="accent1"/>
                </a:solidFill>
              </a:rPr>
              <a:t>Cloudflare</a:t>
            </a:r>
            <a:endParaRPr lang="en-US" sz="1600"/>
          </a:p>
        </p:txBody>
      </p:sp>
      <p:sp>
        <p:nvSpPr>
          <p:cNvPr id="30" name="Review panel 30"/>
          <p:cNvSpPr/>
          <p:nvPr/>
        </p:nvSpPr>
        <p:spPr>
          <a:xfrm>
            <a:off x="5897880" y="1325880"/>
            <a:ext cx="2926080" cy="3291840"/>
          </a:xfrm>
          <a:prstGeom prst="roundRect">
            <a:avLst>
              <a:gd name="adj" fmla="val 4500"/>
            </a:avLst>
          </a:prstGeom>
          <a:solidFill>
            <a:schemeClr val="bg2"/>
          </a:solidFill>
          <a:ln w="12700">
            <a:solidFill>
              <a:srgbClr val="D6E5FB"/>
            </a:solidFill>
          </a:ln>
        </p:spPr>
      </p:sp>
      <p:sp>
        <p:nvSpPr>
          <p:cNvPr id="31" name="Review text 31"/>
          <p:cNvSpPr txBox="1"/>
          <p:nvPr/>
        </p:nvSpPr>
        <p:spPr>
          <a:xfrm>
            <a:off x="6080760" y="1463040"/>
            <a:ext cx="2560320" cy="320040"/>
          </a:xfrm>
          <a:prstGeom prst="rect">
            <a:avLst/>
          </a:prstGeom>
          <a:noFill/>
          <a:ln>
            <a:noFill/>
          </a:ln>
        </p:spPr>
        <p:txBody>
          <a:bodyPr wrap="square" lIns="0" tIns="0" rIns="0" bIns="0" anchor="t"/>
          <a:lstStyle/>
          <a:p>
            <a:pPr algn="l">
              <a:buNone/>
            </a:pPr>
            <a:r>
              <a:rPr lang="en-US" sz="1600" b="1">
                <a:solidFill>
                  <a:schemeClr val="accent1"/>
                </a:solidFill>
              </a:rPr>
              <a:t>EC2 · us-east-2</a:t>
            </a:r>
            <a:endParaRPr lang="en-US" sz="1600"/>
          </a:p>
        </p:txBody>
      </p:sp>
      <p:sp>
        <p:nvSpPr>
          <p:cNvPr id="32" name="Review panel 32"/>
          <p:cNvSpPr/>
          <p:nvPr/>
        </p:nvSpPr>
        <p:spPr>
          <a:xfrm>
            <a:off x="9281160" y="1325880"/>
            <a:ext cx="2331720" cy="3291840"/>
          </a:xfrm>
          <a:prstGeom prst="roundRect">
            <a:avLst>
              <a:gd name="adj" fmla="val 4500"/>
            </a:avLst>
          </a:prstGeom>
          <a:solidFill>
            <a:schemeClr val="bg2"/>
          </a:solidFill>
          <a:ln w="12700">
            <a:solidFill>
              <a:srgbClr val="D6E5FB"/>
            </a:solidFill>
          </a:ln>
        </p:spPr>
      </p:sp>
      <p:sp>
        <p:nvSpPr>
          <p:cNvPr id="33" name="Review text 33"/>
          <p:cNvSpPr txBox="1"/>
          <p:nvPr/>
        </p:nvSpPr>
        <p:spPr>
          <a:xfrm>
            <a:off x="9464040" y="1463040"/>
            <a:ext cx="1965960" cy="320040"/>
          </a:xfrm>
          <a:prstGeom prst="rect">
            <a:avLst/>
          </a:prstGeom>
          <a:noFill/>
          <a:ln>
            <a:noFill/>
          </a:ln>
        </p:spPr>
        <p:txBody>
          <a:bodyPr wrap="square" lIns="0" tIns="0" rIns="0" bIns="0" anchor="t"/>
          <a:lstStyle/>
          <a:p>
            <a:pPr algn="l">
              <a:buNone/>
            </a:pPr>
            <a:r>
              <a:rPr lang="en-US" sz="1600" b="1">
                <a:solidFill>
                  <a:schemeClr val="accent1"/>
                </a:solidFill>
              </a:rPr>
              <a:t>Runtime services</a:t>
            </a:r>
            <a:endParaRPr lang="en-US" sz="1600"/>
          </a:p>
        </p:txBody>
      </p:sp>
      <p:sp>
        <p:nvSpPr>
          <p:cNvPr id="34" name="Review panel 34"/>
          <p:cNvSpPr/>
          <p:nvPr/>
        </p:nvSpPr>
        <p:spPr>
          <a:xfrm>
            <a:off x="2560320" y="1828800"/>
            <a:ext cx="2606040" cy="731520"/>
          </a:xfrm>
          <a:prstGeom prst="roundRect">
            <a:avLst>
              <a:gd name="adj" fmla="val 4500"/>
            </a:avLst>
          </a:prstGeom>
          <a:solidFill>
            <a:schemeClr val="bg1"/>
          </a:solidFill>
          <a:ln w="12700">
            <a:solidFill>
              <a:srgbClr val="D6E5FB"/>
            </a:solidFill>
          </a:ln>
        </p:spPr>
      </p:sp>
      <p:sp>
        <p:nvSpPr>
          <p:cNvPr id="35" name="Review text 35"/>
          <p:cNvSpPr txBox="1"/>
          <p:nvPr/>
        </p:nvSpPr>
        <p:spPr>
          <a:xfrm>
            <a:off x="2560320" y="1828800"/>
            <a:ext cx="2606040" cy="731520"/>
          </a:xfrm>
          <a:prstGeom prst="rect">
            <a:avLst/>
          </a:prstGeom>
          <a:noFill/>
          <a:ln>
            <a:noFill/>
          </a:ln>
        </p:spPr>
        <p:txBody>
          <a:bodyPr wrap="square" lIns="0" tIns="0" rIns="0" bIns="0" anchor="ctr"/>
          <a:lstStyle/>
          <a:p>
            <a:pPr algn="ctr">
              <a:buNone/>
            </a:pPr>
            <a:r>
              <a:rPr lang="en-US" sz="1300" b="0">
                <a:solidFill>
                  <a:schemeClr val="tx1"/>
                </a:solidFill>
              </a:rPr>
              <a:t>API proxy + DNS</a:t>
            </a:r>
            <a:endParaRPr lang="en-US" sz="1300"/>
          </a:p>
          <a:p>
            <a:pPr algn="ctr">
              <a:buNone/>
            </a:pPr>
            <a:r>
              <a:rPr lang="en-US" sz="1300" b="0">
                <a:solidFill>
                  <a:schemeClr val="tx1"/>
                </a:solidFill>
              </a:rPr>
              <a:t>api-oph.alonsovndev.com</a:t>
            </a:r>
            <a:endParaRPr lang="en-US" sz="1300"/>
          </a:p>
        </p:txBody>
      </p:sp>
      <p:sp>
        <p:nvSpPr>
          <p:cNvPr id="36" name="Review panel 36"/>
          <p:cNvSpPr/>
          <p:nvPr/>
        </p:nvSpPr>
        <p:spPr>
          <a:xfrm>
            <a:off x="2560320" y="3154680"/>
            <a:ext cx="2606040" cy="1097280"/>
          </a:xfrm>
          <a:prstGeom prst="roundRect">
            <a:avLst>
              <a:gd name="adj" fmla="val 4500"/>
            </a:avLst>
          </a:prstGeom>
          <a:solidFill>
            <a:schemeClr val="bg1"/>
          </a:solidFill>
          <a:ln w="12700">
            <a:solidFill>
              <a:srgbClr val="D6E5FB"/>
            </a:solidFill>
          </a:ln>
        </p:spPr>
      </p:sp>
      <p:sp>
        <p:nvSpPr>
          <p:cNvPr id="37" name="Review text 37"/>
          <p:cNvSpPr txBox="1"/>
          <p:nvPr/>
        </p:nvSpPr>
        <p:spPr>
          <a:xfrm>
            <a:off x="2560320" y="3154680"/>
            <a:ext cx="2606040" cy="1097280"/>
          </a:xfrm>
          <a:prstGeom prst="rect">
            <a:avLst/>
          </a:prstGeom>
          <a:noFill/>
          <a:ln>
            <a:noFill/>
          </a:ln>
        </p:spPr>
        <p:txBody>
          <a:bodyPr wrap="square" lIns="0" tIns="0" rIns="0" bIns="0" anchor="ctr"/>
          <a:lstStyle/>
          <a:p>
            <a:pPr algn="ctr">
              <a:buNone/>
            </a:pPr>
            <a:r>
              <a:rPr lang="en-US" sz="1300" b="0">
                <a:solidFill>
                  <a:schemeClr val="tx1"/>
                </a:solidFill>
              </a:rPr>
              <a:t>Workers: web + docs</a:t>
            </a:r>
            <a:endParaRPr lang="en-US" sz="1300"/>
          </a:p>
          <a:p>
            <a:pPr algn="ctr">
              <a:buNone/>
            </a:pPr>
            <a:r>
              <a:rPr lang="en-US" sz="1300" b="0">
                <a:solidFill>
                  <a:schemeClr val="tx1"/>
                </a:solidFill>
              </a:rPr>
              <a:t>oph.alonsovndev.com</a:t>
            </a:r>
            <a:endParaRPr lang="en-US" sz="1300"/>
          </a:p>
          <a:p>
            <a:pPr algn="ctr">
              <a:buNone/>
            </a:pPr>
            <a:r>
              <a:rPr lang="en-US" sz="1300" b="0">
                <a:solidFill>
                  <a:schemeClr val="tx1"/>
                </a:solidFill>
              </a:rPr>
              <a:t>oph-docs.alonsovndev.com</a:t>
            </a:r>
            <a:endParaRPr lang="en-US" sz="1300"/>
          </a:p>
        </p:txBody>
      </p:sp>
      <p:sp>
        <p:nvSpPr>
          <p:cNvPr id="38" name="Review panel 38"/>
          <p:cNvSpPr/>
          <p:nvPr/>
        </p:nvSpPr>
        <p:spPr>
          <a:xfrm>
            <a:off x="6126480" y="1828800"/>
            <a:ext cx="2468880" cy="594360"/>
          </a:xfrm>
          <a:prstGeom prst="roundRect">
            <a:avLst>
              <a:gd name="adj" fmla="val 4500"/>
            </a:avLst>
          </a:prstGeom>
          <a:solidFill>
            <a:schemeClr val="bg1"/>
          </a:solidFill>
          <a:ln w="12700">
            <a:solidFill>
              <a:srgbClr val="D6E5FB"/>
            </a:solidFill>
          </a:ln>
        </p:spPr>
      </p:sp>
      <p:sp>
        <p:nvSpPr>
          <p:cNvPr id="39" name="Review text 39"/>
          <p:cNvSpPr txBox="1"/>
          <p:nvPr/>
        </p:nvSpPr>
        <p:spPr>
          <a:xfrm>
            <a:off x="6126480" y="1828800"/>
            <a:ext cx="2468880" cy="594360"/>
          </a:xfrm>
          <a:prstGeom prst="rect">
            <a:avLst/>
          </a:prstGeom>
          <a:noFill/>
          <a:ln>
            <a:noFill/>
          </a:ln>
        </p:spPr>
        <p:txBody>
          <a:bodyPr wrap="square" lIns="0" tIns="0" rIns="0" bIns="0" anchor="ctr"/>
          <a:lstStyle/>
          <a:p>
            <a:pPr algn="ctr">
              <a:buNone/>
            </a:pPr>
            <a:r>
              <a:rPr lang="en-US" sz="1400" b="0">
                <a:solidFill>
                  <a:schemeClr val="tx1"/>
                </a:solidFill>
              </a:rPr>
              <a:t>Caddy · /v1/*</a:t>
            </a:r>
            <a:endParaRPr lang="en-US" sz="1400"/>
          </a:p>
        </p:txBody>
      </p:sp>
      <p:sp>
        <p:nvSpPr>
          <p:cNvPr id="40" name="Review panel 40"/>
          <p:cNvSpPr/>
          <p:nvPr/>
        </p:nvSpPr>
        <p:spPr>
          <a:xfrm>
            <a:off x="6126480" y="2743200"/>
            <a:ext cx="2468880" cy="594360"/>
          </a:xfrm>
          <a:prstGeom prst="roundRect">
            <a:avLst>
              <a:gd name="adj" fmla="val 4500"/>
            </a:avLst>
          </a:prstGeom>
          <a:solidFill>
            <a:schemeClr val="accent1"/>
          </a:solidFill>
          <a:ln w="12700">
            <a:solidFill>
              <a:srgbClr val="D6E5FB"/>
            </a:solidFill>
          </a:ln>
        </p:spPr>
      </p:sp>
      <p:sp>
        <p:nvSpPr>
          <p:cNvPr id="41" name="Review text 41"/>
          <p:cNvSpPr txBox="1"/>
          <p:nvPr/>
        </p:nvSpPr>
        <p:spPr>
          <a:xfrm>
            <a:off x="6126480" y="2743200"/>
            <a:ext cx="2468880" cy="594360"/>
          </a:xfrm>
          <a:prstGeom prst="rect">
            <a:avLst/>
          </a:prstGeom>
          <a:noFill/>
          <a:ln>
            <a:noFill/>
          </a:ln>
        </p:spPr>
        <p:txBody>
          <a:bodyPr wrap="square" lIns="0" tIns="0" rIns="0" bIns="0" anchor="ctr"/>
          <a:lstStyle/>
          <a:p>
            <a:pPr algn="ctr">
              <a:buNone/>
            </a:pPr>
            <a:r>
              <a:rPr lang="en-US" sz="1400" b="1">
                <a:solidFill>
                  <a:schemeClr val="bg1"/>
                </a:solidFill>
              </a:rPr>
              <a:t>FastAPI container</a:t>
            </a:r>
            <a:endParaRPr lang="en-US" sz="1400"/>
          </a:p>
        </p:txBody>
      </p:sp>
      <p:sp>
        <p:nvSpPr>
          <p:cNvPr id="42" name="Review panel 42"/>
          <p:cNvSpPr/>
          <p:nvPr/>
        </p:nvSpPr>
        <p:spPr>
          <a:xfrm>
            <a:off x="6126480" y="3657600"/>
            <a:ext cx="2468880" cy="594360"/>
          </a:xfrm>
          <a:prstGeom prst="roundRect">
            <a:avLst>
              <a:gd name="adj" fmla="val 4500"/>
            </a:avLst>
          </a:prstGeom>
          <a:solidFill>
            <a:schemeClr val="bg1"/>
          </a:solidFill>
          <a:ln w="12700">
            <a:solidFill>
              <a:srgbClr val="D6E5FB"/>
            </a:solidFill>
          </a:ln>
        </p:spPr>
      </p:sp>
      <p:sp>
        <p:nvSpPr>
          <p:cNvPr id="43" name="Review text 43"/>
          <p:cNvSpPr txBox="1"/>
          <p:nvPr/>
        </p:nvSpPr>
        <p:spPr>
          <a:xfrm>
            <a:off x="6126480" y="3657600"/>
            <a:ext cx="2468880" cy="594360"/>
          </a:xfrm>
          <a:prstGeom prst="rect">
            <a:avLst/>
          </a:prstGeom>
          <a:noFill/>
          <a:ln>
            <a:noFill/>
          </a:ln>
        </p:spPr>
        <p:txBody>
          <a:bodyPr wrap="square" lIns="0" tIns="0" rIns="0" bIns="0" anchor="ctr"/>
          <a:lstStyle/>
          <a:p>
            <a:pPr algn="ctr">
              <a:buNone/>
            </a:pPr>
            <a:r>
              <a:rPr lang="en-US" sz="1300" b="0">
                <a:solidFill>
                  <a:schemeClr val="tx1"/>
                </a:solidFill>
              </a:rPr>
              <a:t>PostgreSQL 15</a:t>
            </a:r>
            <a:endParaRPr lang="en-US" sz="1300"/>
          </a:p>
          <a:p>
            <a:pPr algn="ctr">
              <a:buNone/>
            </a:pPr>
            <a:r>
              <a:rPr lang="en-US" sz="1300" b="0">
                <a:solidFill>
                  <a:schemeClr val="tx1"/>
                </a:solidFill>
              </a:rPr>
              <a:t>EBS persistence</a:t>
            </a:r>
            <a:endParaRPr lang="en-US" sz="1300"/>
          </a:p>
        </p:txBody>
      </p:sp>
      <p:sp>
        <p:nvSpPr>
          <p:cNvPr id="44" name="Review panel 44"/>
          <p:cNvSpPr/>
          <p:nvPr/>
        </p:nvSpPr>
        <p:spPr>
          <a:xfrm>
            <a:off x="9464040" y="1920240"/>
            <a:ext cx="1965960" cy="868680"/>
          </a:xfrm>
          <a:prstGeom prst="roundRect">
            <a:avLst>
              <a:gd name="adj" fmla="val 4500"/>
            </a:avLst>
          </a:prstGeom>
          <a:solidFill>
            <a:schemeClr val="bg1"/>
          </a:solidFill>
          <a:ln w="12700">
            <a:solidFill>
              <a:srgbClr val="D6E5FB"/>
            </a:solidFill>
          </a:ln>
        </p:spPr>
      </p:sp>
      <p:sp>
        <p:nvSpPr>
          <p:cNvPr id="45" name="Review text 45"/>
          <p:cNvSpPr txBox="1"/>
          <p:nvPr/>
        </p:nvSpPr>
        <p:spPr>
          <a:xfrm>
            <a:off x="9464040" y="1920240"/>
            <a:ext cx="1965960" cy="868680"/>
          </a:xfrm>
          <a:prstGeom prst="rect">
            <a:avLst/>
          </a:prstGeom>
          <a:noFill/>
          <a:ln>
            <a:noFill/>
          </a:ln>
        </p:spPr>
        <p:txBody>
          <a:bodyPr wrap="square" lIns="0" tIns="0" rIns="0" bIns="0" anchor="ctr"/>
          <a:lstStyle/>
          <a:p>
            <a:pPr algn="ctr">
              <a:buNone/>
            </a:pPr>
            <a:r>
              <a:rPr lang="en-US" sz="1300" b="0">
                <a:solidFill>
                  <a:schemeClr val="tx1"/>
                </a:solidFill>
              </a:rPr>
              <a:t>AI providers</a:t>
            </a:r>
            <a:endParaRPr lang="en-US" sz="1300"/>
          </a:p>
          <a:p>
            <a:pPr algn="ctr">
              <a:buNone/>
            </a:pPr>
            <a:r>
              <a:rPr lang="en-US" sz="1300" b="0">
                <a:solidFill>
                  <a:schemeClr val="tx1"/>
                </a:solidFill>
              </a:rPr>
              <a:t>Gemini · OpenAI</a:t>
            </a:r>
            <a:endParaRPr lang="en-US" sz="1300"/>
          </a:p>
          <a:p>
            <a:pPr algn="ctr">
              <a:buNone/>
            </a:pPr>
            <a:r>
              <a:rPr lang="en-US" sz="1300" b="0">
                <a:solidFill>
                  <a:schemeClr val="tx1"/>
                </a:solidFill>
              </a:rPr>
              <a:t>DeepSeek</a:t>
            </a:r>
            <a:endParaRPr lang="en-US" sz="1300"/>
          </a:p>
        </p:txBody>
      </p:sp>
      <p:sp>
        <p:nvSpPr>
          <p:cNvPr id="46" name="Review panel 46"/>
          <p:cNvSpPr/>
          <p:nvPr/>
        </p:nvSpPr>
        <p:spPr>
          <a:xfrm>
            <a:off x="9464040" y="3337560"/>
            <a:ext cx="1965960" cy="685800"/>
          </a:xfrm>
          <a:prstGeom prst="roundRect">
            <a:avLst>
              <a:gd name="adj" fmla="val 4500"/>
            </a:avLst>
          </a:prstGeom>
          <a:solidFill>
            <a:schemeClr val="bg1"/>
          </a:solidFill>
          <a:ln w="12700">
            <a:solidFill>
              <a:srgbClr val="D6E5FB"/>
            </a:solidFill>
          </a:ln>
        </p:spPr>
      </p:sp>
      <p:sp>
        <p:nvSpPr>
          <p:cNvPr id="47" name="Review text 47"/>
          <p:cNvSpPr txBox="1"/>
          <p:nvPr/>
        </p:nvSpPr>
        <p:spPr>
          <a:xfrm>
            <a:off x="9464040" y="3337560"/>
            <a:ext cx="1965960" cy="685800"/>
          </a:xfrm>
          <a:prstGeom prst="rect">
            <a:avLst/>
          </a:prstGeom>
          <a:noFill/>
          <a:ln>
            <a:noFill/>
          </a:ln>
        </p:spPr>
        <p:txBody>
          <a:bodyPr wrap="square" lIns="0" tIns="0" rIns="0" bIns="0" anchor="ctr"/>
          <a:lstStyle/>
          <a:p>
            <a:pPr algn="ctr">
              <a:buNone/>
            </a:pPr>
            <a:r>
              <a:rPr lang="en-US" sz="1300" b="0">
                <a:solidFill>
                  <a:schemeClr val="tx1"/>
                </a:solidFill>
              </a:rPr>
              <a:t>Resend</a:t>
            </a:r>
            <a:endParaRPr lang="en-US" sz="1300"/>
          </a:p>
          <a:p>
            <a:pPr algn="ctr">
              <a:buNone/>
            </a:pPr>
            <a:r>
              <a:rPr lang="en-US" sz="1300" b="0">
                <a:solidFill>
                  <a:schemeClr val="tx1"/>
                </a:solidFill>
              </a:rPr>
              <a:t>email codes</a:t>
            </a:r>
            <a:endParaRPr lang="en-US" sz="1300"/>
          </a:p>
        </p:txBody>
      </p:sp>
      <p:sp>
        <p:nvSpPr>
          <p:cNvPr id="48" name="Review connection 48"/>
          <p:cNvSpPr/>
          <p:nvPr/>
        </p:nvSpPr>
        <p:spPr>
          <a:xfrm>
            <a:off x="1783080" y="2971800"/>
            <a:ext cx="228600" cy="0"/>
          </a:xfrm>
          <a:prstGeom prst="line">
            <a:avLst/>
          </a:prstGeom>
          <a:noFill/>
          <a:ln w="25400">
            <a:solidFill>
              <a:schemeClr val="accent1"/>
            </a:solidFill>
          </a:ln>
        </p:spPr>
      </p:sp>
      <p:sp>
        <p:nvSpPr>
          <p:cNvPr id="49" name="Review connection 49"/>
          <p:cNvSpPr/>
          <p:nvPr/>
        </p:nvSpPr>
        <p:spPr>
          <a:xfrm flipV="1">
            <a:off x="2011680" y="2194560"/>
            <a:ext cx="0" cy="777240"/>
          </a:xfrm>
          <a:prstGeom prst="line">
            <a:avLst/>
          </a:prstGeom>
          <a:noFill/>
          <a:ln w="25400">
            <a:solidFill>
              <a:schemeClr val="accent1"/>
            </a:solidFill>
          </a:ln>
        </p:spPr>
      </p:sp>
      <p:sp>
        <p:nvSpPr>
          <p:cNvPr id="50" name="Review connection 50"/>
          <p:cNvSpPr/>
          <p:nvPr/>
        </p:nvSpPr>
        <p:spPr>
          <a:xfrm>
            <a:off x="2011680" y="2194560"/>
            <a:ext cx="548640" cy="0"/>
          </a:xfrm>
          <a:prstGeom prst="line">
            <a:avLst/>
          </a:prstGeom>
          <a:noFill/>
          <a:ln w="25400">
            <a:solidFill>
              <a:schemeClr val="accent1"/>
            </a:solidFill>
            <a:tailEnd type="triangle"/>
          </a:ln>
        </p:spPr>
      </p:sp>
      <p:sp>
        <p:nvSpPr>
          <p:cNvPr id="51" name="Review connection 51"/>
          <p:cNvSpPr/>
          <p:nvPr/>
        </p:nvSpPr>
        <p:spPr>
          <a:xfrm>
            <a:off x="1783080" y="2971800"/>
            <a:ext cx="365760" cy="0"/>
          </a:xfrm>
          <a:prstGeom prst="line">
            <a:avLst/>
          </a:prstGeom>
          <a:noFill/>
          <a:ln w="25400">
            <a:solidFill>
              <a:schemeClr val="accent1"/>
            </a:solidFill>
          </a:ln>
        </p:spPr>
      </p:sp>
      <p:sp>
        <p:nvSpPr>
          <p:cNvPr id="52" name="Review connection 52"/>
          <p:cNvSpPr/>
          <p:nvPr/>
        </p:nvSpPr>
        <p:spPr>
          <a:xfrm>
            <a:off x="2148840" y="2971800"/>
            <a:ext cx="0" cy="731520"/>
          </a:xfrm>
          <a:prstGeom prst="line">
            <a:avLst/>
          </a:prstGeom>
          <a:noFill/>
          <a:ln w="25400">
            <a:solidFill>
              <a:schemeClr val="accent1"/>
            </a:solidFill>
          </a:ln>
        </p:spPr>
      </p:sp>
      <p:sp>
        <p:nvSpPr>
          <p:cNvPr id="53" name="Review connection 53"/>
          <p:cNvSpPr/>
          <p:nvPr/>
        </p:nvSpPr>
        <p:spPr>
          <a:xfrm>
            <a:off x="2148840" y="3703320"/>
            <a:ext cx="411480" cy="0"/>
          </a:xfrm>
          <a:prstGeom prst="line">
            <a:avLst/>
          </a:prstGeom>
          <a:noFill/>
          <a:ln w="25400">
            <a:solidFill>
              <a:schemeClr val="accent1"/>
            </a:solidFill>
            <a:tailEnd type="triangle"/>
          </a:ln>
        </p:spPr>
      </p:sp>
      <p:sp>
        <p:nvSpPr>
          <p:cNvPr id="54" name="Review connection 54"/>
          <p:cNvSpPr/>
          <p:nvPr/>
        </p:nvSpPr>
        <p:spPr>
          <a:xfrm>
            <a:off x="5166360" y="2194560"/>
            <a:ext cx="960120" cy="0"/>
          </a:xfrm>
          <a:prstGeom prst="line">
            <a:avLst/>
          </a:prstGeom>
          <a:noFill/>
          <a:ln w="25400">
            <a:solidFill>
              <a:schemeClr val="accent1"/>
            </a:solidFill>
            <a:tailEnd type="triangle"/>
          </a:ln>
        </p:spPr>
      </p:sp>
      <p:sp>
        <p:nvSpPr>
          <p:cNvPr id="55" name="Review connection 55"/>
          <p:cNvSpPr/>
          <p:nvPr/>
        </p:nvSpPr>
        <p:spPr>
          <a:xfrm>
            <a:off x="7360920" y="2423160"/>
            <a:ext cx="0" cy="320040"/>
          </a:xfrm>
          <a:prstGeom prst="line">
            <a:avLst/>
          </a:prstGeom>
          <a:noFill/>
          <a:ln w="25400">
            <a:solidFill>
              <a:schemeClr val="accent1"/>
            </a:solidFill>
            <a:tailEnd type="triangle"/>
          </a:ln>
        </p:spPr>
      </p:sp>
      <p:sp>
        <p:nvSpPr>
          <p:cNvPr id="56" name="Review connection 56"/>
          <p:cNvSpPr/>
          <p:nvPr/>
        </p:nvSpPr>
        <p:spPr>
          <a:xfrm>
            <a:off x="7360920" y="3337560"/>
            <a:ext cx="0" cy="320040"/>
          </a:xfrm>
          <a:prstGeom prst="line">
            <a:avLst/>
          </a:prstGeom>
          <a:noFill/>
          <a:ln w="25400">
            <a:solidFill>
              <a:schemeClr val="accent1"/>
            </a:solidFill>
            <a:tailEnd type="triangle"/>
          </a:ln>
        </p:spPr>
      </p:sp>
      <p:sp>
        <p:nvSpPr>
          <p:cNvPr id="57" name="Review connection 57"/>
          <p:cNvSpPr/>
          <p:nvPr/>
        </p:nvSpPr>
        <p:spPr>
          <a:xfrm>
            <a:off x="8595360" y="3040380"/>
            <a:ext cx="411480" cy="0"/>
          </a:xfrm>
          <a:prstGeom prst="line">
            <a:avLst/>
          </a:prstGeom>
          <a:noFill/>
          <a:ln w="25400">
            <a:solidFill>
              <a:schemeClr val="accent1"/>
            </a:solidFill>
          </a:ln>
        </p:spPr>
      </p:sp>
      <p:sp>
        <p:nvSpPr>
          <p:cNvPr id="58" name="Review connection 58"/>
          <p:cNvSpPr/>
          <p:nvPr/>
        </p:nvSpPr>
        <p:spPr>
          <a:xfrm flipV="1">
            <a:off x="9006840" y="2354580"/>
            <a:ext cx="0" cy="685800"/>
          </a:xfrm>
          <a:prstGeom prst="line">
            <a:avLst/>
          </a:prstGeom>
          <a:noFill/>
          <a:ln w="25400">
            <a:solidFill>
              <a:schemeClr val="accent1"/>
            </a:solidFill>
          </a:ln>
        </p:spPr>
      </p:sp>
      <p:sp>
        <p:nvSpPr>
          <p:cNvPr id="59" name="Review connection 59"/>
          <p:cNvSpPr/>
          <p:nvPr/>
        </p:nvSpPr>
        <p:spPr>
          <a:xfrm>
            <a:off x="9006840" y="2354580"/>
            <a:ext cx="457200" cy="0"/>
          </a:xfrm>
          <a:prstGeom prst="line">
            <a:avLst/>
          </a:prstGeom>
          <a:noFill/>
          <a:ln w="25400">
            <a:solidFill>
              <a:schemeClr val="accent1"/>
            </a:solidFill>
            <a:tailEnd type="triangle"/>
          </a:ln>
        </p:spPr>
      </p:sp>
      <p:sp>
        <p:nvSpPr>
          <p:cNvPr id="60" name="Review connection 60"/>
          <p:cNvSpPr/>
          <p:nvPr/>
        </p:nvSpPr>
        <p:spPr>
          <a:xfrm>
            <a:off x="9006840" y="3040380"/>
            <a:ext cx="0" cy="640080"/>
          </a:xfrm>
          <a:prstGeom prst="line">
            <a:avLst/>
          </a:prstGeom>
          <a:noFill/>
          <a:ln w="25400">
            <a:solidFill>
              <a:schemeClr val="accent1"/>
            </a:solidFill>
          </a:ln>
        </p:spPr>
      </p:sp>
      <p:sp>
        <p:nvSpPr>
          <p:cNvPr id="61" name="Review connection 61"/>
          <p:cNvSpPr/>
          <p:nvPr/>
        </p:nvSpPr>
        <p:spPr>
          <a:xfrm>
            <a:off x="9006840" y="3680460"/>
            <a:ext cx="457200" cy="0"/>
          </a:xfrm>
          <a:prstGeom prst="line">
            <a:avLst/>
          </a:prstGeom>
          <a:noFill/>
          <a:ln w="25400">
            <a:solidFill>
              <a:schemeClr val="accent1"/>
            </a:solidFill>
            <a:tailEnd type="triangle"/>
          </a:ln>
        </p:spPr>
      </p:sp>
      <p:sp>
        <p:nvSpPr>
          <p:cNvPr id="62" name="Review text 62"/>
          <p:cNvSpPr txBox="1"/>
          <p:nvPr/>
        </p:nvSpPr>
        <p:spPr>
          <a:xfrm>
            <a:off x="548640" y="2084832"/>
            <a:ext cx="1371600" cy="228600"/>
          </a:xfrm>
          <a:prstGeom prst="rect">
            <a:avLst/>
          </a:prstGeom>
          <a:noFill/>
          <a:ln>
            <a:noFill/>
          </a:ln>
        </p:spPr>
        <p:txBody>
          <a:bodyPr wrap="square" lIns="0" tIns="0" rIns="0" bIns="0" anchor="t"/>
          <a:lstStyle/>
          <a:p>
            <a:pPr algn="l">
              <a:buNone/>
            </a:pPr>
            <a:r>
              <a:rPr lang="en-US" sz="1100" b="0">
                <a:solidFill>
                  <a:schemeClr val="accent6"/>
                </a:solidFill>
              </a:rPr>
              <a:t>API HTTPS</a:t>
            </a:r>
            <a:endParaRPr lang="en-US" sz="1100"/>
          </a:p>
        </p:txBody>
      </p:sp>
      <p:sp>
        <p:nvSpPr>
          <p:cNvPr id="63" name="Review text 63"/>
          <p:cNvSpPr txBox="1"/>
          <p:nvPr/>
        </p:nvSpPr>
        <p:spPr>
          <a:xfrm>
            <a:off x="548640" y="3611880"/>
            <a:ext cx="1463040" cy="228600"/>
          </a:xfrm>
          <a:prstGeom prst="rect">
            <a:avLst/>
          </a:prstGeom>
          <a:noFill/>
          <a:ln>
            <a:noFill/>
          </a:ln>
        </p:spPr>
        <p:txBody>
          <a:bodyPr wrap="square" lIns="0" tIns="0" rIns="0" bIns="0" anchor="t"/>
          <a:lstStyle/>
          <a:p>
            <a:pPr algn="l">
              <a:buNone/>
            </a:pPr>
            <a:r>
              <a:rPr lang="en-US" sz="1100" b="0">
                <a:solidFill>
                  <a:schemeClr val="accent6"/>
                </a:solidFill>
              </a:rPr>
              <a:t>Static HTTPS</a:t>
            </a:r>
            <a:endParaRPr lang="en-US" sz="1100"/>
          </a:p>
        </p:txBody>
      </p:sp>
      <p:sp>
        <p:nvSpPr>
          <p:cNvPr id="64" name="Review text 64"/>
          <p:cNvSpPr txBox="1"/>
          <p:nvPr/>
        </p:nvSpPr>
        <p:spPr>
          <a:xfrm>
            <a:off x="5276088" y="1856232"/>
            <a:ext cx="777240" cy="274320"/>
          </a:xfrm>
          <a:prstGeom prst="rect">
            <a:avLst/>
          </a:prstGeom>
          <a:noFill/>
          <a:ln>
            <a:noFill/>
          </a:ln>
        </p:spPr>
        <p:txBody>
          <a:bodyPr wrap="square" lIns="0" tIns="0" rIns="0" bIns="0" anchor="ctr"/>
          <a:lstStyle/>
          <a:p>
            <a:pPr algn="ctr">
              <a:buNone/>
            </a:pPr>
            <a:r>
              <a:rPr lang="en-US" sz="1050" b="0">
                <a:solidFill>
                  <a:schemeClr val="accent6"/>
                </a:solidFill>
              </a:rPr>
              <a:t>HTTPS 443</a:t>
            </a:r>
            <a:endParaRPr lang="en-US" sz="1050"/>
          </a:p>
        </p:txBody>
      </p:sp>
      <p:sp>
        <p:nvSpPr>
          <p:cNvPr id="65" name="Review text 65"/>
          <p:cNvSpPr txBox="1"/>
          <p:nvPr/>
        </p:nvSpPr>
        <p:spPr>
          <a:xfrm>
            <a:off x="6080760" y="4325112"/>
            <a:ext cx="2560320" cy="228600"/>
          </a:xfrm>
          <a:prstGeom prst="rect">
            <a:avLst/>
          </a:prstGeom>
          <a:noFill/>
          <a:ln>
            <a:noFill/>
          </a:ln>
        </p:spPr>
        <p:txBody>
          <a:bodyPr wrap="square" lIns="0" tIns="0" rIns="0" bIns="0" anchor="ctr"/>
          <a:lstStyle/>
          <a:p>
            <a:pPr algn="ctr">
              <a:buNone/>
            </a:pPr>
            <a:r>
              <a:rPr lang="en-US" sz="1100" b="0">
                <a:solidFill>
                  <a:schemeClr val="accent6"/>
                </a:solidFill>
              </a:rPr>
              <a:t>Docker Compose · single host</a:t>
            </a:r>
            <a:endParaRPr lang="en-US" sz="1100"/>
          </a:p>
        </p:txBody>
      </p:sp>
      <p:sp>
        <p:nvSpPr>
          <p:cNvPr id="66" name="Review panel 66"/>
          <p:cNvSpPr/>
          <p:nvPr/>
        </p:nvSpPr>
        <p:spPr>
          <a:xfrm>
            <a:off x="548640" y="4846320"/>
            <a:ext cx="11064240" cy="1078992"/>
          </a:xfrm>
          <a:prstGeom prst="roundRect">
            <a:avLst>
              <a:gd name="adj" fmla="val 4500"/>
            </a:avLst>
          </a:prstGeom>
          <a:solidFill>
            <a:schemeClr val="bg2"/>
          </a:solidFill>
          <a:ln w="12700">
            <a:solidFill>
              <a:srgbClr val="D6E5FB"/>
            </a:solidFill>
          </a:ln>
        </p:spPr>
      </p:sp>
      <p:sp>
        <p:nvSpPr>
          <p:cNvPr id="67" name="Review text 67"/>
          <p:cNvSpPr txBox="1"/>
          <p:nvPr/>
        </p:nvSpPr>
        <p:spPr>
          <a:xfrm>
            <a:off x="777240" y="4965192"/>
            <a:ext cx="3657600" cy="228600"/>
          </a:xfrm>
          <a:prstGeom prst="rect">
            <a:avLst/>
          </a:prstGeom>
          <a:noFill/>
          <a:ln>
            <a:noFill/>
          </a:ln>
        </p:spPr>
        <p:txBody>
          <a:bodyPr wrap="square" lIns="0" tIns="0" rIns="0" bIns="0" anchor="t"/>
          <a:lstStyle/>
          <a:p>
            <a:pPr algn="l">
              <a:buNone/>
            </a:pPr>
            <a:r>
              <a:rPr lang="en-US" sz="1200" b="1">
                <a:solidFill>
                  <a:schemeClr val="accent1"/>
                </a:solidFill>
              </a:rPr>
              <a:t>RELEASE &amp; CONFIGURATION</a:t>
            </a:r>
            <a:endParaRPr lang="en-US" sz="1200"/>
          </a:p>
        </p:txBody>
      </p:sp>
      <p:sp>
        <p:nvSpPr>
          <p:cNvPr id="68" name="Review text 68"/>
          <p:cNvSpPr txBox="1"/>
          <p:nvPr/>
        </p:nvSpPr>
        <p:spPr>
          <a:xfrm>
            <a:off x="777240" y="5321808"/>
            <a:ext cx="3108960" cy="274320"/>
          </a:xfrm>
          <a:prstGeom prst="rect">
            <a:avLst/>
          </a:prstGeom>
          <a:noFill/>
          <a:ln>
            <a:noFill/>
          </a:ln>
        </p:spPr>
        <p:txBody>
          <a:bodyPr wrap="square" lIns="0" tIns="0" rIns="0" bIns="0" anchor="t"/>
          <a:lstStyle/>
          <a:p>
            <a:pPr algn="l">
              <a:buNone/>
            </a:pPr>
            <a:r>
              <a:rPr lang="en-US" sz="1400" b="0">
                <a:solidFill>
                  <a:schemeClr val="tx1"/>
                </a:solidFill>
              </a:rPr>
              <a:t>GitHub Actions → GHCR image</a:t>
            </a:r>
            <a:endParaRPr lang="en-US" sz="1400"/>
          </a:p>
        </p:txBody>
      </p:sp>
      <p:sp>
        <p:nvSpPr>
          <p:cNvPr id="69" name="Review text 69"/>
          <p:cNvSpPr txBox="1"/>
          <p:nvPr/>
        </p:nvSpPr>
        <p:spPr>
          <a:xfrm>
            <a:off x="4160520" y="5321808"/>
            <a:ext cx="3200400" cy="274320"/>
          </a:xfrm>
          <a:prstGeom prst="rect">
            <a:avLst/>
          </a:prstGeom>
          <a:noFill/>
          <a:ln>
            <a:noFill/>
          </a:ln>
        </p:spPr>
        <p:txBody>
          <a:bodyPr wrap="square" lIns="0" tIns="0" rIns="0" bIns="0" anchor="t"/>
          <a:lstStyle/>
          <a:p>
            <a:pPr algn="l">
              <a:buNone/>
            </a:pPr>
            <a:r>
              <a:rPr lang="en-US" sz="1400" b="0">
                <a:solidFill>
                  <a:schemeClr val="tx1"/>
                </a:solidFill>
              </a:rPr>
              <a:t>Engineer → SSM Run Command</a:t>
            </a:r>
            <a:endParaRPr lang="en-US" sz="1400"/>
          </a:p>
        </p:txBody>
      </p:sp>
      <p:sp>
        <p:nvSpPr>
          <p:cNvPr id="70" name="Review text 70"/>
          <p:cNvSpPr txBox="1"/>
          <p:nvPr/>
        </p:nvSpPr>
        <p:spPr>
          <a:xfrm>
            <a:off x="7726680" y="5321808"/>
            <a:ext cx="3657600" cy="274320"/>
          </a:xfrm>
          <a:prstGeom prst="rect">
            <a:avLst/>
          </a:prstGeom>
          <a:noFill/>
          <a:ln>
            <a:noFill/>
          </a:ln>
        </p:spPr>
        <p:txBody>
          <a:bodyPr wrap="square" lIns="0" tIns="0" rIns="0" bIns="0" anchor="t"/>
          <a:lstStyle/>
          <a:p>
            <a:pPr algn="l">
              <a:buNone/>
            </a:pPr>
            <a:r>
              <a:rPr lang="en-US" sz="1400" b="0">
                <a:solidFill>
                  <a:schemeClr val="tx1"/>
                </a:solidFill>
              </a:rPr>
              <a:t>Host pulls image + SSM secrets</a:t>
            </a:r>
            <a:endParaRPr lang="en-US" sz="1400"/>
          </a:p>
        </p:txBody>
      </p:sp>
      <p:sp>
        <p:nvSpPr>
          <p:cNvPr id="71" name="Review connection 71"/>
          <p:cNvSpPr/>
          <p:nvPr/>
        </p:nvSpPr>
        <p:spPr>
          <a:xfrm>
            <a:off x="7360920" y="5431536"/>
            <a:ext cx="320040" cy="0"/>
          </a:xfrm>
          <a:prstGeom prst="line">
            <a:avLst/>
          </a:prstGeom>
          <a:noFill/>
          <a:ln w="25400">
            <a:solidFill>
              <a:schemeClr val="accent1"/>
            </a:solidFill>
            <a:prstDash val="dash"/>
            <a:tailEnd type="triangle"/>
          </a:ln>
        </p:spPr>
      </p:sp>
      <p:sp>
        <p:nvSpPr>
          <p:cNvPr id="72" name="Review text 72"/>
          <p:cNvSpPr txBox="1"/>
          <p:nvPr/>
        </p:nvSpPr>
        <p:spPr>
          <a:xfrm>
            <a:off x="777240" y="5650992"/>
            <a:ext cx="10607040" cy="228600"/>
          </a:xfrm>
          <a:prstGeom prst="rect">
            <a:avLst/>
          </a:prstGeom>
          <a:noFill/>
          <a:ln>
            <a:noFill/>
          </a:ln>
        </p:spPr>
        <p:txBody>
          <a:bodyPr wrap="square" lIns="0" tIns="0" rIns="0" bIns="0" anchor="t"/>
          <a:lstStyle/>
          <a:p>
            <a:pPr algn="l">
              <a:buNone/>
            </a:pPr>
            <a:r>
              <a:rPr lang="en-US" sz="1100" b="0">
                <a:solidFill>
                  <a:schemeClr val="accent6"/>
                </a:solidFill>
              </a:rPr>
              <a:t>Manual: deploy-release.sh &lt;tag&gt; · Terraform: host, networking, SSM, budgets and DNS</a:t>
            </a:r>
            <a:endParaRPr lang="en-US" sz="1100"/>
          </a:p>
        </p:txBody>
      </p:sp>
      <p:sp>
        <p:nvSpPr>
          <p:cNvPr id="73" name="Review text 73"/>
          <p:cNvSpPr txBox="1"/>
          <p:nvPr/>
        </p:nvSpPr>
        <p:spPr>
          <a:xfrm>
            <a:off x="548640" y="6080760"/>
            <a:ext cx="11064240" cy="228600"/>
          </a:xfrm>
          <a:prstGeom prst="rect">
            <a:avLst/>
          </a:prstGeom>
          <a:noFill/>
          <a:ln>
            <a:noFill/>
          </a:ln>
        </p:spPr>
        <p:txBody>
          <a:bodyPr wrap="square" lIns="0" tIns="0" rIns="0" bIns="0" anchor="t"/>
          <a:lstStyle/>
          <a:p>
            <a:pPr algn="l">
              <a:buNone/>
            </a:pPr>
            <a:r>
              <a:rPr lang="en-US" sz="1200" b="0">
                <a:solidFill>
                  <a:schemeClr val="accent6"/>
                </a:solidFill>
              </a:rPr>
              <a:t>Ingress: 443 from Cloudflare IP ranges · Origin TLS: Full · No automated DB backups or failover</a:t>
            </a:r>
            <a:endParaRPr 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AI that stays under human control</a:t>
            </a:r>
            <a:endParaRPr lang="en-US" sz="3200" dirty="0"/>
          </a:p>
        </p:txBody>
      </p:sp>
      <p:sp>
        <p:nvSpPr>
          <p:cNvPr id="3" name="ai-1"/>
          <p:cNvSpPr/>
          <p:nvPr/>
        </p:nvSpPr>
        <p:spPr>
          <a:xfrm>
            <a:off x="548640" y="1371600"/>
            <a:ext cx="5394960" cy="2011680"/>
          </a:xfrm>
          <a:prstGeom prst="roundRect">
            <a:avLst>
              <a:gd name="adj" fmla="val 5455"/>
            </a:avLst>
          </a:prstGeom>
          <a:solidFill>
            <a:schemeClr val="bg2"/>
          </a:solidFill>
          <a:ln w="12700">
            <a:solidFill>
              <a:srgbClr val="D6E5FB"/>
            </a:solidFill>
            <a:prstDash val="solid"/>
          </a:ln>
        </p:spPr>
      </p:sp>
      <p:sp>
        <p:nvSpPr>
          <p:cNvPr id="4" name="Shape 2"/>
          <p:cNvSpPr/>
          <p:nvPr/>
        </p:nvSpPr>
        <p:spPr>
          <a:xfrm>
            <a:off x="868680" y="169164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86868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600200" y="1719072"/>
            <a:ext cx="4069080" cy="411480"/>
          </a:xfrm>
          <a:prstGeom prst="rect">
            <a:avLst/>
          </a:prstGeom>
          <a:noFill/>
          <a:ln/>
        </p:spPr>
        <p:txBody>
          <a:bodyPr wrap="square" lIns="0" tIns="0" rIns="0" bIns="0" rtlCol="0" anchor="t"/>
          <a:lstStyle/>
          <a:p>
            <a:pPr indent="0" marL="0">
              <a:buNone/>
            </a:pPr>
            <a:r>
              <a:rPr lang="en-US" sz="2000" b="1" dirty="0">
                <a:solidFill>
                  <a:schemeClr val="tx1"/>
                </a:solidFill>
              </a:rPr>
              <a:t>Pluggable providers</a:t>
            </a:r>
            <a:endParaRPr lang="en-US" sz="2000" dirty="0"/>
          </a:p>
        </p:txBody>
      </p:sp>
      <p:sp>
        <p:nvSpPr>
          <p:cNvPr id="7" name="Text 5"/>
          <p:cNvSpPr txBox="1"/>
          <p:nvPr/>
        </p:nvSpPr>
        <p:spPr>
          <a:xfrm>
            <a:off x="1600200" y="2240280"/>
            <a:ext cx="4069080" cy="1005840"/>
          </a:xfrm>
          <a:prstGeom prst="rect">
            <a:avLst/>
          </a:prstGeom>
          <a:noFill/>
          <a:ln/>
        </p:spPr>
        <p:txBody>
          <a:bodyPr wrap="square" lIns="0" tIns="0" rIns="0" bIns="0" rtlCol="0" anchor="t"/>
          <a:lstStyle/>
          <a:p>
            <a:pPr indent="0" marL="0">
              <a:buNone/>
            </a:pPr>
            <a:r>
              <a:rPr lang="en-US" sz="1500" dirty="0">
                <a:solidFill>
                  <a:schemeClr val="accent6"/>
                </a:solidFill>
              </a:rPr>
              <a:t>Gemini, OpenAI and DeepSeek behind one port, plus a mock adapter for local development and tests.</a:t>
            </a:r>
            <a:endParaRPr lang="en-US" sz="1500" dirty="0"/>
          </a:p>
        </p:txBody>
      </p:sp>
      <p:sp>
        <p:nvSpPr>
          <p:cNvPr id="8" name="ai-2"/>
          <p:cNvSpPr/>
          <p:nvPr/>
        </p:nvSpPr>
        <p:spPr>
          <a:xfrm>
            <a:off x="6217920" y="1371600"/>
            <a:ext cx="5394960" cy="2011680"/>
          </a:xfrm>
          <a:prstGeom prst="roundRect">
            <a:avLst>
              <a:gd name="adj" fmla="val 5455"/>
            </a:avLst>
          </a:prstGeom>
          <a:solidFill>
            <a:schemeClr val="bg2"/>
          </a:solidFill>
          <a:ln w="12700">
            <a:solidFill>
              <a:srgbClr val="D6E5FB"/>
            </a:solidFill>
            <a:prstDash val="solid"/>
          </a:ln>
        </p:spPr>
      </p:sp>
      <p:sp>
        <p:nvSpPr>
          <p:cNvPr id="9" name="Shape 7"/>
          <p:cNvSpPr/>
          <p:nvPr/>
        </p:nvSpPr>
        <p:spPr>
          <a:xfrm>
            <a:off x="6537960" y="169164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653796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7269480" y="1719072"/>
            <a:ext cx="4069080" cy="411480"/>
          </a:xfrm>
          <a:prstGeom prst="rect">
            <a:avLst/>
          </a:prstGeom>
          <a:noFill/>
          <a:ln/>
        </p:spPr>
        <p:txBody>
          <a:bodyPr wrap="square" lIns="0" tIns="0" rIns="0" bIns="0" rtlCol="0" anchor="t"/>
          <a:lstStyle/>
          <a:p>
            <a:pPr indent="0" marL="0">
              <a:buNone/>
            </a:pPr>
            <a:r>
              <a:rPr lang="en-US" sz="2000" b="1" dirty="0">
                <a:solidFill>
                  <a:schemeClr val="tx1"/>
                </a:solidFill>
              </a:rPr>
              <a:t>Credits or your own key</a:t>
            </a:r>
            <a:endParaRPr lang="en-US" sz="2000" dirty="0"/>
          </a:p>
        </p:txBody>
      </p:sp>
      <p:sp>
        <p:nvSpPr>
          <p:cNvPr id="12" name="Text 10"/>
          <p:cNvSpPr txBox="1"/>
          <p:nvPr/>
        </p:nvSpPr>
        <p:spPr>
          <a:xfrm>
            <a:off x="7269480" y="2240280"/>
            <a:ext cx="4069080" cy="1005840"/>
          </a:xfrm>
          <a:prstGeom prst="rect">
            <a:avLst/>
          </a:prstGeom>
          <a:noFill/>
          <a:ln/>
        </p:spPr>
        <p:txBody>
          <a:bodyPr wrap="square" lIns="0" tIns="0" rIns="0" bIns="0" rtlCol="0" anchor="t"/>
          <a:lstStyle/>
          <a:p>
            <a:pPr indent="0" marL="0">
              <a:buNone/>
            </a:pPr>
            <a:r>
              <a:rPr lang="en-US" sz="1500" dirty="0">
                <a:solidFill>
                  <a:schemeClr val="accent6"/>
                </a:solidFill>
              </a:rPr>
              <a:t>Free platform credits per workspace, or a personal API key encrypted at rest (ADR-018).</a:t>
            </a:r>
            <a:endParaRPr lang="en-US" sz="1500" dirty="0"/>
          </a:p>
        </p:txBody>
      </p:sp>
      <p:sp>
        <p:nvSpPr>
          <p:cNvPr id="13" name="ai-3"/>
          <p:cNvSpPr/>
          <p:nvPr/>
        </p:nvSpPr>
        <p:spPr>
          <a:xfrm>
            <a:off x="548640" y="3657600"/>
            <a:ext cx="5394960" cy="2011680"/>
          </a:xfrm>
          <a:prstGeom prst="roundRect">
            <a:avLst>
              <a:gd name="adj" fmla="val 5455"/>
            </a:avLst>
          </a:prstGeom>
          <a:solidFill>
            <a:schemeClr val="bg2"/>
          </a:solidFill>
          <a:ln w="12700">
            <a:solidFill>
              <a:srgbClr val="D6E5FB"/>
            </a:solidFill>
            <a:prstDash val="solid"/>
          </a:ln>
        </p:spPr>
      </p:sp>
      <p:sp>
        <p:nvSpPr>
          <p:cNvPr id="14" name="Shape 12"/>
          <p:cNvSpPr/>
          <p:nvPr/>
        </p:nvSpPr>
        <p:spPr>
          <a:xfrm>
            <a:off x="868680" y="3977640"/>
            <a:ext cx="502920" cy="502920"/>
          </a:xfrm>
          <a:prstGeom prst="ellipse">
            <a:avLst/>
          </a:prstGeom>
          <a:solidFill>
            <a:schemeClr val="accent3"/>
          </a:solidFill>
          <a:ln w="12700">
            <a:solidFill>
              <a:schemeClr val="accent3"/>
            </a:solidFill>
            <a:prstDash val="solid"/>
          </a:ln>
        </p:spPr>
      </p:sp>
      <p:sp>
        <p:nvSpPr>
          <p:cNvPr id="15" name="Text 13"/>
          <p:cNvSpPr txBox="1"/>
          <p:nvPr/>
        </p:nvSpPr>
        <p:spPr>
          <a:xfrm>
            <a:off x="86868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600200" y="4005072"/>
            <a:ext cx="4069080" cy="411480"/>
          </a:xfrm>
          <a:prstGeom prst="rect">
            <a:avLst/>
          </a:prstGeom>
          <a:noFill/>
          <a:ln/>
        </p:spPr>
        <p:txBody>
          <a:bodyPr wrap="square" lIns="0" tIns="0" rIns="0" bIns="0" rtlCol="0" anchor="t"/>
          <a:lstStyle/>
          <a:p>
            <a:pPr indent="0" marL="0">
              <a:buNone/>
            </a:pPr>
            <a:r>
              <a:rPr lang="en-US" sz="2000" b="1" dirty="0">
                <a:solidFill>
                  <a:schemeClr val="tx1"/>
                </a:solidFill>
              </a:rPr>
              <a:t>Client-side drafts</a:t>
            </a:r>
            <a:endParaRPr lang="en-US" sz="2000" dirty="0"/>
          </a:p>
        </p:txBody>
      </p:sp>
      <p:sp>
        <p:nvSpPr>
          <p:cNvPr id="17" name="Text 15"/>
          <p:cNvSpPr txBox="1"/>
          <p:nvPr/>
        </p:nvSpPr>
        <p:spPr>
          <a:xfrm>
            <a:off x="1600200" y="4526280"/>
            <a:ext cx="4069080" cy="1005840"/>
          </a:xfrm>
          <a:prstGeom prst="rect">
            <a:avLst/>
          </a:prstGeom>
          <a:noFill/>
          <a:ln/>
        </p:spPr>
        <p:txBody>
          <a:bodyPr wrap="square" lIns="0" tIns="0" rIns="0" bIns="0" rtlCol="0" anchor="t"/>
          <a:lstStyle/>
          <a:p>
            <a:pPr indent="0" marL="0">
              <a:buNone/>
            </a:pPr>
            <a:r>
              <a:rPr lang="en-US" sz="1500" dirty="0">
                <a:solidFill>
                  <a:schemeClr val="accent6"/>
                </a:solidFill>
              </a:rPr>
              <a:t>Drafts use browser session storage. Only approval saves a story to the database (ADR-019).</a:t>
            </a:r>
            <a:endParaRPr lang="en-US" sz="1500" dirty="0"/>
          </a:p>
        </p:txBody>
      </p:sp>
      <p:sp>
        <p:nvSpPr>
          <p:cNvPr id="18" name="ai-4"/>
          <p:cNvSpPr/>
          <p:nvPr/>
        </p:nvSpPr>
        <p:spPr>
          <a:xfrm>
            <a:off x="6217920" y="3657600"/>
            <a:ext cx="5394960" cy="2011680"/>
          </a:xfrm>
          <a:prstGeom prst="roundRect">
            <a:avLst>
              <a:gd name="adj" fmla="val 5455"/>
            </a:avLst>
          </a:prstGeom>
          <a:solidFill>
            <a:schemeClr val="bg2"/>
          </a:solidFill>
          <a:ln w="12700">
            <a:solidFill>
              <a:srgbClr val="D6E5FB"/>
            </a:solidFill>
            <a:prstDash val="solid"/>
          </a:ln>
        </p:spPr>
      </p:sp>
      <p:sp>
        <p:nvSpPr>
          <p:cNvPr id="19" name="Shape 17"/>
          <p:cNvSpPr/>
          <p:nvPr/>
        </p:nvSpPr>
        <p:spPr>
          <a:xfrm>
            <a:off x="6537960" y="397764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653796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269480" y="4005072"/>
            <a:ext cx="4069080" cy="411480"/>
          </a:xfrm>
          <a:prstGeom prst="rect">
            <a:avLst/>
          </a:prstGeom>
          <a:noFill/>
          <a:ln/>
        </p:spPr>
        <p:txBody>
          <a:bodyPr wrap="square" lIns="0" tIns="0" rIns="0" bIns="0" rtlCol="0" anchor="t"/>
          <a:lstStyle/>
          <a:p>
            <a:pPr indent="0" marL="0">
              <a:buNone/>
            </a:pPr>
            <a:r>
              <a:rPr lang="en-US" sz="2000" b="1" dirty="0">
                <a:solidFill>
                  <a:schemeClr val="tx1"/>
                </a:solidFill>
              </a:rPr>
              <a:t>Defensive handling</a:t>
            </a:r>
            <a:endParaRPr lang="en-US" sz="2000" dirty="0"/>
          </a:p>
        </p:txBody>
      </p:sp>
      <p:sp>
        <p:nvSpPr>
          <p:cNvPr id="22" name="Text 20"/>
          <p:cNvSpPr txBox="1"/>
          <p:nvPr/>
        </p:nvSpPr>
        <p:spPr>
          <a:xfrm>
            <a:off x="7269480" y="4526280"/>
            <a:ext cx="4069080" cy="1005840"/>
          </a:xfrm>
          <a:prstGeom prst="rect">
            <a:avLst/>
          </a:prstGeom>
          <a:noFill/>
          <a:ln/>
        </p:spPr>
        <p:txBody>
          <a:bodyPr wrap="square" lIns="0" tIns="0" rIns="0" bIns="0" rtlCol="0" anchor="t"/>
          <a:lstStyle/>
          <a:p>
            <a:pPr indent="0" marL="0">
              <a:buNone/>
            </a:pPr>
            <a:r>
              <a:rPr lang="en-US" sz="1500" dirty="0">
                <a:solidFill>
                  <a:schemeClr val="accent6"/>
                </a:solidFill>
              </a:rPr>
              <a:t>Input limits, sanitization and structured parsing of model output. A human approves every story.</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Security and quality built into the workflow</a:t>
            </a:r>
            <a:endParaRPr lang="en-US" sz="3200" dirty="0"/>
          </a:p>
        </p:txBody>
      </p:sp>
      <p:sp>
        <p:nvSpPr>
          <p:cNvPr id="3" name="column-Security"/>
          <p:cNvSpPr/>
          <p:nvPr/>
        </p:nvSpPr>
        <p:spPr>
          <a:xfrm>
            <a:off x="548640" y="1371600"/>
            <a:ext cx="5394960" cy="4480560"/>
          </a:xfrm>
          <a:prstGeom prst="roundRect">
            <a:avLst>
              <a:gd name="adj" fmla="val 2609"/>
            </a:avLst>
          </a:prstGeom>
          <a:solidFill>
            <a:schemeClr val="bg2"/>
          </a:solidFill>
          <a:ln w="12700">
            <a:solidFill>
              <a:srgbClr val="D6E5FB"/>
            </a:solidFill>
            <a:prstDash val="solid"/>
          </a:ln>
        </p:spPr>
      </p:sp>
      <p:sp>
        <p:nvSpPr>
          <p:cNvPr id="4" name="Shape 2"/>
          <p:cNvSpPr/>
          <p:nvPr/>
        </p:nvSpPr>
        <p:spPr>
          <a:xfrm>
            <a:off x="868680" y="164592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86868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600200" y="1673352"/>
            <a:ext cx="4023360" cy="457200"/>
          </a:xfrm>
          <a:prstGeom prst="rect">
            <a:avLst/>
          </a:prstGeom>
          <a:noFill/>
          <a:ln/>
        </p:spPr>
        <p:txBody>
          <a:bodyPr wrap="square" lIns="0" tIns="0" rIns="0" bIns="0" rtlCol="0" anchor="t"/>
          <a:lstStyle/>
          <a:p>
            <a:pPr indent="0" marL="0">
              <a:buNone/>
            </a:pPr>
            <a:r>
              <a:rPr lang="en-US" sz="2000" b="1" dirty="0">
                <a:solidFill>
                  <a:schemeClr val="tx1"/>
                </a:solidFill>
              </a:rPr>
              <a:t>Security</a:t>
            </a:r>
            <a:endParaRPr lang="en-US" sz="2000" dirty="0"/>
          </a:p>
        </p:txBody>
      </p:sp>
      <p:sp>
        <p:nvSpPr>
          <p:cNvPr id="7" name="Text 5"/>
          <p:cNvSpPr txBox="1"/>
          <p:nvPr/>
        </p:nvSpPr>
        <p:spPr>
          <a:xfrm>
            <a:off x="868680" y="2423160"/>
            <a:ext cx="4800600" cy="32004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Access token in memory; refresh in an HttpOnly cookie</a:t>
            </a:r>
            <a:endParaRPr lang="en-US" sz="1500" dirty="0"/>
          </a:p>
          <a:p>
            <a:pPr marL="203200" indent="-203200">
              <a:spcAft>
                <a:spcPts val="600"/>
              </a:spcAft>
              <a:buSzPct val="100000"/>
              <a:buChar char="•"/>
            </a:pPr>
            <a:r>
              <a:rPr lang="en-US" sz="1500" dirty="0">
                <a:solidFill>
                  <a:schemeClr val="tx1"/>
                </a:solidFill>
              </a:rPr>
              <a:t>bcrypt passwords and emailed verification codes</a:t>
            </a:r>
            <a:endParaRPr lang="en-US" sz="1500" dirty="0"/>
          </a:p>
          <a:p>
            <a:pPr marL="203200" indent="-203200">
              <a:spcAft>
                <a:spcPts val="600"/>
              </a:spcAft>
              <a:buSzPct val="100000"/>
              <a:buChar char="•"/>
            </a:pPr>
            <a:r>
              <a:rPr lang="en-US" sz="1500" dirty="0">
                <a:solidFill>
                  <a:schemeClr val="tx1"/>
                </a:solidFill>
              </a:rPr>
              <a:t>Workspace-owned data scoped to the caller workspace</a:t>
            </a:r>
            <a:endParaRPr lang="en-US" sz="1500" dirty="0"/>
          </a:p>
          <a:p>
            <a:pPr marL="203200" indent="-203200">
              <a:spcAft>
                <a:spcPts val="600"/>
              </a:spcAft>
              <a:buSzPct val="100000"/>
              <a:buChar char="•"/>
            </a:pPr>
            <a:r>
              <a:rPr lang="en-US" sz="1500" dirty="0">
                <a:solidFill>
                  <a:schemeClr val="tx1"/>
                </a:solidFill>
              </a:rPr>
              <a:t>Admin and Member roles enforced by the API</a:t>
            </a:r>
            <a:endParaRPr lang="en-US" sz="1500" dirty="0"/>
          </a:p>
          <a:p>
            <a:pPr marL="203200" indent="-203200">
              <a:spcAft>
                <a:spcPts val="600"/>
              </a:spcAft>
              <a:buSzPct val="100000"/>
              <a:buChar char="•"/>
            </a:pPr>
            <a:r>
              <a:rPr lang="en-US" sz="1500" dirty="0">
                <a:solidFill>
                  <a:schemeClr val="tx1"/>
                </a:solidFill>
              </a:rPr>
              <a:t>Content Security Policy on the web app</a:t>
            </a:r>
            <a:endParaRPr lang="en-US" sz="1500" dirty="0"/>
          </a:p>
          <a:p>
            <a:pPr marL="203200" indent="-203200">
              <a:spcAft>
                <a:spcPts val="600"/>
              </a:spcAft>
              <a:buSzPct val="100000"/>
              <a:buChar char="•"/>
            </a:pPr>
            <a:r>
              <a:rPr lang="en-US" sz="1500" dirty="0">
                <a:solidFill>
                  <a:schemeClr val="tx1"/>
                </a:solidFill>
              </a:rPr>
              <a:t>Ingress allowlists Cloudflare IPs; secrets in SSM</a:t>
            </a:r>
            <a:endParaRPr lang="en-US" sz="1500" dirty="0"/>
          </a:p>
        </p:txBody>
      </p:sp>
      <p:sp>
        <p:nvSpPr>
          <p:cNvPr id="8" name="column-Quality gates"/>
          <p:cNvSpPr/>
          <p:nvPr/>
        </p:nvSpPr>
        <p:spPr>
          <a:xfrm>
            <a:off x="6217920" y="1371600"/>
            <a:ext cx="5394960" cy="4480560"/>
          </a:xfrm>
          <a:prstGeom prst="roundRect">
            <a:avLst>
              <a:gd name="adj" fmla="val 2609"/>
            </a:avLst>
          </a:prstGeom>
          <a:solidFill>
            <a:schemeClr val="bg2"/>
          </a:solidFill>
          <a:ln w="12700">
            <a:solidFill>
              <a:srgbClr val="D6E5FB"/>
            </a:solidFill>
            <a:prstDash val="solid"/>
          </a:ln>
        </p:spPr>
      </p:sp>
      <p:sp>
        <p:nvSpPr>
          <p:cNvPr id="9" name="Shape 7"/>
          <p:cNvSpPr/>
          <p:nvPr/>
        </p:nvSpPr>
        <p:spPr>
          <a:xfrm>
            <a:off x="6537960" y="164592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65379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7269480" y="1673352"/>
            <a:ext cx="4023360" cy="457200"/>
          </a:xfrm>
          <a:prstGeom prst="rect">
            <a:avLst/>
          </a:prstGeom>
          <a:noFill/>
          <a:ln/>
        </p:spPr>
        <p:txBody>
          <a:bodyPr wrap="square" lIns="0" tIns="0" rIns="0" bIns="0" rtlCol="0" anchor="t"/>
          <a:lstStyle/>
          <a:p>
            <a:pPr indent="0" marL="0">
              <a:buNone/>
            </a:pPr>
            <a:r>
              <a:rPr lang="en-US" sz="2000" b="1" dirty="0">
                <a:solidFill>
                  <a:schemeClr val="tx1"/>
                </a:solidFill>
              </a:rPr>
              <a:t>Quality gates</a:t>
            </a:r>
            <a:endParaRPr lang="en-US" sz="2000" dirty="0"/>
          </a:p>
        </p:txBody>
      </p:sp>
      <p:sp>
        <p:nvSpPr>
          <p:cNvPr id="12" name="Text 10"/>
          <p:cNvSpPr txBox="1"/>
          <p:nvPr/>
        </p:nvSpPr>
        <p:spPr>
          <a:xfrm>
            <a:off x="6537960" y="2423160"/>
            <a:ext cx="4800600" cy="32004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API: Ruff, Bandit, non-integration pytest</a:t>
            </a:r>
            <a:endParaRPr lang="en-US" sz="1500" dirty="0"/>
          </a:p>
          <a:p>
            <a:pPr marL="203200" indent="-203200">
              <a:spcAft>
                <a:spcPts val="600"/>
              </a:spcAft>
              <a:buSzPct val="100000"/>
              <a:buChar char="•"/>
            </a:pPr>
            <a:r>
              <a:rPr lang="en-US" sz="1500" dirty="0">
                <a:solidFill>
                  <a:schemeClr val="tx1"/>
                </a:solidFill>
              </a:rPr>
              <a:t>Migrations: upgrade/downgrade on test PostgreSQL</a:t>
            </a:r>
            <a:endParaRPr lang="en-US" sz="1500" dirty="0"/>
          </a:p>
          <a:p>
            <a:pPr marL="203200" indent="-203200">
              <a:spcAft>
                <a:spcPts val="600"/>
              </a:spcAft>
              <a:buSzPct val="100000"/>
              <a:buChar char="•"/>
            </a:pPr>
            <a:r>
              <a:rPr lang="en-US" sz="1500" dirty="0">
                <a:solidFill>
                  <a:schemeClr val="tx1"/>
                </a:solidFill>
              </a:rPr>
              <a:t>API mypy is advisory; integration tests excluded</a:t>
            </a:r>
            <a:endParaRPr lang="en-US" sz="1500" dirty="0"/>
          </a:p>
          <a:p>
            <a:pPr marL="203200" indent="-203200">
              <a:spcAft>
                <a:spcPts val="600"/>
              </a:spcAft>
              <a:buSzPct val="100000"/>
              <a:buChar char="•"/>
            </a:pPr>
            <a:r>
              <a:rPr lang="en-US" sz="1500" dirty="0">
                <a:solidFill>
                  <a:schemeClr val="tx1"/>
                </a:solidFill>
              </a:rPr>
              <a:t>Web: ESLint, Vitest, types + build; no E2E in CI</a:t>
            </a:r>
            <a:endParaRPr lang="en-US" sz="1500" dirty="0"/>
          </a:p>
          <a:p>
            <a:pPr marL="203200" indent="-203200">
              <a:spcAft>
                <a:spcPts val="600"/>
              </a:spcAft>
              <a:buSzPct val="100000"/>
              <a:buChar char="•"/>
            </a:pPr>
            <a:r>
              <a:rPr lang="en-US" sz="1500" dirty="0">
                <a:solidFill>
                  <a:schemeClr val="tx1"/>
                </a:solidFill>
              </a:rPr>
              <a:t>Docs: types + build; infra: fmt + validate</a:t>
            </a:r>
            <a:endParaRPr lang="en-US" sz="1500" dirty="0"/>
          </a:p>
          <a:p>
            <a:pPr marL="203200" indent="-203200">
              <a:spcAft>
                <a:spcPts val="600"/>
              </a:spcAft>
              <a:buSzPct val="100000"/>
              <a:buChar char="•"/>
            </a:pPr>
            <a:r>
              <a:rPr lang="en-US" sz="1500" dirty="0">
                <a:solidFill>
                  <a:schemeClr val="tx1"/>
                </a:solidFill>
              </a:rPr>
              <a:t>feature → dev → main with CI checks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
        <p:nvSpPr>
          <p:cNvPr id="26" name="Review text 26"/>
          <p:cNvSpPr txBox="1"/>
          <p:nvPr/>
        </p:nvSpPr>
        <p:spPr>
          <a:xfrm>
            <a:off x="548640" y="6016752"/>
            <a:ext cx="11064240" cy="256032"/>
          </a:xfrm>
          <a:prstGeom prst="rect">
            <a:avLst/>
          </a:prstGeom>
          <a:noFill/>
          <a:ln>
            <a:noFill/>
          </a:ln>
        </p:spPr>
        <p:txBody>
          <a:bodyPr wrap="square" lIns="0" tIns="0" rIns="0" bIns="0" anchor="t"/>
          <a:lstStyle/>
          <a:p>
            <a:pPr algn="l">
              <a:buNone/>
            </a:pPr>
            <a:r>
              <a:rPr lang="en-US" sz="1200" b="0">
                <a:solidFill>
                  <a:schemeClr val="accent6"/>
                </a:solidFill>
              </a:rPr>
              <a:t>Configured checks are not fresh passing results. Hosted branch-rule enforcement was not queried.</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Built with AI as an engineering partner</a:t>
            </a:r>
            <a:endParaRPr lang="en-US" sz="3200" dirty="0"/>
          </a:p>
        </p:txBody>
      </p:sp>
      <p:sp>
        <p:nvSpPr>
          <p:cNvPr id="3" name="Shape 1"/>
          <p:cNvSpPr/>
          <p:nvPr/>
        </p:nvSpPr>
        <p:spPr>
          <a:xfrm>
            <a:off x="548640" y="1417320"/>
            <a:ext cx="411480" cy="411480"/>
          </a:xfrm>
          <a:prstGeom prst="ellipse">
            <a:avLst/>
          </a:prstGeom>
          <a:solidFill>
            <a:schemeClr val="accent1"/>
          </a:solidFill>
          <a:ln w="12700">
            <a:solidFill>
              <a:schemeClr val="accent1"/>
            </a:solidFill>
            <a:prstDash val="solid"/>
          </a:ln>
        </p:spPr>
      </p:sp>
      <p:sp>
        <p:nvSpPr>
          <p:cNvPr id="4" name="Text 2"/>
          <p:cNvSpPr txBox="1"/>
          <p:nvPr/>
        </p:nvSpPr>
        <p:spPr>
          <a:xfrm>
            <a:off x="54864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43000" y="1399032"/>
            <a:ext cx="5715000" cy="365760"/>
          </a:xfrm>
          <a:prstGeom prst="rect">
            <a:avLst/>
          </a:prstGeom>
          <a:noFill/>
          <a:ln/>
        </p:spPr>
        <p:txBody>
          <a:bodyPr wrap="square" lIns="0" tIns="0" rIns="0" bIns="0" rtlCol="0" anchor="t"/>
          <a:lstStyle/>
          <a:p>
            <a:pPr indent="0" marL="0">
              <a:buNone/>
            </a:pPr>
            <a:r>
              <a:rPr lang="en-US" sz="1800" b="1" dirty="0">
                <a:solidFill>
                  <a:schemeClr val="tx1"/>
                </a:solidFill>
              </a:rPr>
              <a:t>Spec first</a:t>
            </a:r>
            <a:endParaRPr lang="en-US" sz="1800" dirty="0"/>
          </a:p>
        </p:txBody>
      </p:sp>
      <p:sp>
        <p:nvSpPr>
          <p:cNvPr id="6" name="Text 4"/>
          <p:cNvSpPr txBox="1"/>
          <p:nvPr/>
        </p:nvSpPr>
        <p:spPr>
          <a:xfrm>
            <a:off x="1143000" y="1801368"/>
            <a:ext cx="5715000" cy="640080"/>
          </a:xfrm>
          <a:prstGeom prst="rect">
            <a:avLst/>
          </a:prstGeom>
          <a:noFill/>
          <a:ln/>
        </p:spPr>
        <p:txBody>
          <a:bodyPr wrap="square" lIns="0" tIns="0" rIns="0" bIns="0" rtlCol="0" anchor="t"/>
          <a:lstStyle/>
          <a:p>
            <a:pPr indent="0" marL="0">
              <a:buNone/>
            </a:pPr>
            <a:r>
              <a:rPr lang="en-US" sz="1500" dirty="0">
                <a:solidFill>
                  <a:schemeClr val="accent6"/>
                </a:solidFill>
              </a:rPr>
              <a:t>Ideas become clarified, phased plans in specs/ before any code is written.</a:t>
            </a:r>
            <a:endParaRPr lang="en-US" sz="1500" dirty="0"/>
          </a:p>
        </p:txBody>
      </p:sp>
      <p:sp>
        <p:nvSpPr>
          <p:cNvPr id="7" name="Shape 5"/>
          <p:cNvSpPr/>
          <p:nvPr/>
        </p:nvSpPr>
        <p:spPr>
          <a:xfrm>
            <a:off x="548640" y="2560320"/>
            <a:ext cx="411480" cy="411480"/>
          </a:xfrm>
          <a:prstGeom prst="ellipse">
            <a:avLst/>
          </a:prstGeom>
          <a:solidFill>
            <a:schemeClr val="accent1"/>
          </a:solidFill>
          <a:ln w="12700">
            <a:solidFill>
              <a:schemeClr val="accent1"/>
            </a:solidFill>
            <a:prstDash val="solid"/>
          </a:ln>
        </p:spPr>
      </p:sp>
      <p:sp>
        <p:nvSpPr>
          <p:cNvPr id="8" name="Text 6"/>
          <p:cNvSpPr txBox="1"/>
          <p:nvPr/>
        </p:nvSpPr>
        <p:spPr>
          <a:xfrm>
            <a:off x="548640" y="2560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143000" y="2542032"/>
            <a:ext cx="5715000" cy="365760"/>
          </a:xfrm>
          <a:prstGeom prst="rect">
            <a:avLst/>
          </a:prstGeom>
          <a:noFill/>
          <a:ln/>
        </p:spPr>
        <p:txBody>
          <a:bodyPr wrap="square" lIns="0" tIns="0" rIns="0" bIns="0" rtlCol="0" anchor="t"/>
          <a:lstStyle/>
          <a:p>
            <a:pPr indent="0" marL="0">
              <a:buNone/>
            </a:pPr>
            <a:r>
              <a:rPr lang="en-US" sz="1800" b="1" dirty="0">
                <a:solidFill>
                  <a:schemeClr val="tx1"/>
                </a:solidFill>
              </a:rPr>
              <a:t>Agent instructions in every repo</a:t>
            </a:r>
            <a:endParaRPr lang="en-US" sz="1800" dirty="0"/>
          </a:p>
        </p:txBody>
      </p:sp>
      <p:sp>
        <p:nvSpPr>
          <p:cNvPr id="10" name="Text 8"/>
          <p:cNvSpPr txBox="1"/>
          <p:nvPr/>
        </p:nvSpPr>
        <p:spPr>
          <a:xfrm>
            <a:off x="1143000" y="2944368"/>
            <a:ext cx="5715000" cy="640080"/>
          </a:xfrm>
          <a:prstGeom prst="rect">
            <a:avLst/>
          </a:prstGeom>
          <a:noFill/>
          <a:ln/>
        </p:spPr>
        <p:txBody>
          <a:bodyPr wrap="square" lIns="0" tIns="0" rIns="0" bIns="0" rtlCol="0" anchor="t"/>
          <a:lstStyle/>
          <a:p>
            <a:pPr indent="0" marL="0">
              <a:buNone/>
            </a:pPr>
            <a:r>
              <a:rPr lang="en-US" sz="1500" dirty="0">
                <a:solidFill>
                  <a:schemeClr val="accent6"/>
                </a:solidFill>
              </a:rPr>
              <a:t>AGENTS.md, CLAUDE.md and repo standards give agents the architecture and rules.</a:t>
            </a:r>
            <a:endParaRPr lang="en-US" sz="1500" dirty="0"/>
          </a:p>
        </p:txBody>
      </p:sp>
      <p:sp>
        <p:nvSpPr>
          <p:cNvPr id="11" name="Shape 9"/>
          <p:cNvSpPr/>
          <p:nvPr/>
        </p:nvSpPr>
        <p:spPr>
          <a:xfrm>
            <a:off x="548640" y="3703320"/>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548640" y="3703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143000" y="3685032"/>
            <a:ext cx="5715000" cy="365760"/>
          </a:xfrm>
          <a:prstGeom prst="rect">
            <a:avLst/>
          </a:prstGeom>
          <a:noFill/>
          <a:ln/>
        </p:spPr>
        <p:txBody>
          <a:bodyPr wrap="square" lIns="0" tIns="0" rIns="0" bIns="0" rtlCol="0" anchor="t"/>
          <a:lstStyle/>
          <a:p>
            <a:pPr indent="0" marL="0">
              <a:buNone/>
            </a:pPr>
            <a:r>
              <a:rPr lang="en-US" sz="1800" b="1" dirty="0">
                <a:solidFill>
                  <a:schemeClr val="tx1"/>
                </a:solidFill>
              </a:rPr>
              <a:t>Skills and reviewer agents</a:t>
            </a:r>
            <a:endParaRPr lang="en-US" sz="1800" dirty="0"/>
          </a:p>
        </p:txBody>
      </p:sp>
      <p:sp>
        <p:nvSpPr>
          <p:cNvPr id="14" name="Text 12"/>
          <p:cNvSpPr txBox="1"/>
          <p:nvPr/>
        </p:nvSpPr>
        <p:spPr>
          <a:xfrm>
            <a:off x="1143000" y="4087368"/>
            <a:ext cx="5715000" cy="640080"/>
          </a:xfrm>
          <a:prstGeom prst="rect">
            <a:avLst/>
          </a:prstGeom>
          <a:noFill/>
          <a:ln/>
        </p:spPr>
        <p:txBody>
          <a:bodyPr wrap="square" lIns="0" tIns="0" rIns="0" bIns="0" rtlCol="0" anchor="t"/>
          <a:lstStyle/>
          <a:p>
            <a:pPr indent="0" marL="0">
              <a:buNone/>
            </a:pPr>
            <a:r>
              <a:rPr lang="en-US" sz="1500" dirty="0">
                <a:solidFill>
                  <a:schemeClr val="accent6"/>
                </a:solidFill>
              </a:rPr>
              <a:t>Reusable skills and reviewer agents support architecture, implementation and verification.</a:t>
            </a:r>
            <a:endParaRPr lang="en-US" sz="1500" dirty="0"/>
          </a:p>
        </p:txBody>
      </p:sp>
      <p:sp>
        <p:nvSpPr>
          <p:cNvPr id="15" name="Shape 13"/>
          <p:cNvSpPr/>
          <p:nvPr/>
        </p:nvSpPr>
        <p:spPr>
          <a:xfrm>
            <a:off x="548640" y="4846320"/>
            <a:ext cx="411480" cy="411480"/>
          </a:xfrm>
          <a:prstGeom prst="ellipse">
            <a:avLst/>
          </a:prstGeom>
          <a:solidFill>
            <a:schemeClr val="accent1"/>
          </a:solidFill>
          <a:ln w="12700">
            <a:solidFill>
              <a:schemeClr val="accent1"/>
            </a:solidFill>
            <a:prstDash val="solid"/>
          </a:ln>
        </p:spPr>
      </p:sp>
      <p:sp>
        <p:nvSpPr>
          <p:cNvPr id="16" name="Text 14"/>
          <p:cNvSpPr txBox="1"/>
          <p:nvPr/>
        </p:nvSpPr>
        <p:spPr>
          <a:xfrm>
            <a:off x="548640" y="4846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143000" y="4828032"/>
            <a:ext cx="5715000" cy="365760"/>
          </a:xfrm>
          <a:prstGeom prst="rect">
            <a:avLst/>
          </a:prstGeom>
          <a:noFill/>
          <a:ln/>
        </p:spPr>
        <p:txBody>
          <a:bodyPr wrap="square" lIns="0" tIns="0" rIns="0" bIns="0" rtlCol="0" anchor="t"/>
          <a:lstStyle/>
          <a:p>
            <a:pPr indent="0" marL="0">
              <a:buNone/>
            </a:pPr>
            <a:r>
              <a:rPr lang="en-US" sz="1800" b="1" dirty="0">
                <a:solidFill>
                  <a:schemeClr val="tx1"/>
                </a:solidFill>
              </a:rPr>
              <a:t>Decisions recorded</a:t>
            </a:r>
            <a:endParaRPr lang="en-US" sz="1800" dirty="0"/>
          </a:p>
        </p:txBody>
      </p:sp>
      <p:sp>
        <p:nvSpPr>
          <p:cNvPr id="18" name="Text 16"/>
          <p:cNvSpPr txBox="1"/>
          <p:nvPr/>
        </p:nvSpPr>
        <p:spPr>
          <a:xfrm>
            <a:off x="1143000" y="5230368"/>
            <a:ext cx="5715000" cy="640080"/>
          </a:xfrm>
          <a:prstGeom prst="rect">
            <a:avLst/>
          </a:prstGeom>
          <a:noFill/>
          <a:ln/>
        </p:spPr>
        <p:txBody>
          <a:bodyPr wrap="square" lIns="0" tIns="0" rIns="0" bIns="0" rtlCol="0" anchor="t"/>
          <a:lstStyle/>
          <a:p>
            <a:pPr indent="0" marL="0">
              <a:buNone/>
            </a:pPr>
            <a:r>
              <a:rPr lang="en-US" sz="1500" dirty="0">
                <a:solidFill>
                  <a:schemeClr val="accent6"/>
                </a:solidFill>
              </a:rPr>
              <a:t>24 ADRs keep the reasoning behind each choice available to people and agents.</a:t>
            </a:r>
            <a:endParaRPr lang="en-US" sz="1500" dirty="0"/>
          </a:p>
        </p:txBody>
      </p:sp>
      <p:sp>
        <p:nvSpPr>
          <p:cNvPr id="19" name="ai-tools"/>
          <p:cNvSpPr/>
          <p:nvPr/>
        </p:nvSpPr>
        <p:spPr>
          <a:xfrm>
            <a:off x="7315200" y="1371600"/>
            <a:ext cx="4297680" cy="4754880"/>
          </a:xfrm>
          <a:prstGeom prst="roundRect">
            <a:avLst>
              <a:gd name="adj" fmla="val 2553"/>
            </a:avLst>
          </a:prstGeom>
          <a:solidFill>
            <a:schemeClr val="tx2"/>
          </a:solidFill>
          <a:ln w="12700">
            <a:solidFill>
              <a:schemeClr val="tx2"/>
            </a:solidFill>
            <a:prstDash val="solid"/>
          </a:ln>
        </p:spPr>
      </p:sp>
      <p:sp>
        <p:nvSpPr>
          <p:cNvPr id="20" name="Text 18"/>
          <p:cNvSpPr txBox="1"/>
          <p:nvPr/>
        </p:nvSpPr>
        <p:spPr>
          <a:xfrm>
            <a:off x="7680960" y="1691640"/>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TOOLS</a:t>
            </a:r>
            <a:endParaRPr lang="en-US" sz="1200" dirty="0"/>
          </a:p>
        </p:txBody>
      </p:sp>
      <p:sp>
        <p:nvSpPr>
          <p:cNvPr id="21" name="Text 19"/>
          <p:cNvSpPr txBox="1"/>
          <p:nvPr/>
        </p:nvSpPr>
        <p:spPr>
          <a:xfrm>
            <a:off x="7680960" y="2057400"/>
            <a:ext cx="3566160" cy="731520"/>
          </a:xfrm>
          <a:prstGeom prst="rect">
            <a:avLst/>
          </a:prstGeom>
          <a:noFill/>
          <a:ln/>
        </p:spPr>
        <p:txBody>
          <a:bodyPr wrap="square" lIns="0" tIns="0" rIns="0" bIns="0" rtlCol="0" anchor="t"/>
          <a:lstStyle/>
          <a:p>
            <a:pPr indent="0" marL="0">
              <a:buNone/>
            </a:pPr>
            <a:r>
              <a:rPr lang="en-US" sz="1600" b="1" dirty="0">
                <a:solidFill>
                  <a:schemeClr val="bg1"/>
                </a:solidFill>
              </a:rPr>
              <a:t>Claude Code</a:t>
            </a:r>
            <a:endParaRPr lang="en-US" sz="1600" dirty="0"/>
          </a:p>
          <a:p>
            <a:pPr indent="0" marL="0">
              <a:buNone/>
            </a:pPr>
            <a:r>
              <a:rPr lang="en-US" sz="1600" b="1" dirty="0">
                <a:solidFill>
                  <a:schemeClr val="bg1"/>
                </a:solidFill>
              </a:rPr>
              <a:t>OpenCode</a:t>
            </a:r>
            <a:endParaRPr lang="en-US" sz="1600" dirty="0"/>
          </a:p>
          <a:p>
            <a:pPr indent="0" marL="0">
              <a:buNone/>
            </a:pPr>
            <a:r>
              <a:rPr lang="en-US" sz="1600" b="1" dirty="0">
                <a:solidFill>
                  <a:schemeClr val="bg1"/>
                </a:solidFill>
              </a:rPr>
              <a:t>GitHub Copilot</a:t>
            </a:r>
            <a:endParaRPr lang="en-US" sz="1600" dirty="0"/>
          </a:p>
        </p:txBody>
      </p:sp>
      <p:sp>
        <p:nvSpPr>
          <p:cNvPr id="22" name="Text 20"/>
          <p:cNvSpPr txBox="1"/>
          <p:nvPr/>
        </p:nvSpPr>
        <p:spPr>
          <a:xfrm>
            <a:off x="7680960" y="3063240"/>
            <a:ext cx="356616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DECISION IN PRACTICE · ADR-019</a:t>
            </a:r>
            <a:endParaRPr lang="en-US" sz="1100" dirty="0"/>
          </a:p>
        </p:txBody>
      </p:sp>
      <p:sp>
        <p:nvSpPr>
          <p:cNvPr id="23" name="Text 21"/>
          <p:cNvSpPr txBox="1"/>
          <p:nvPr/>
        </p:nvSpPr>
        <p:spPr>
          <a:xfrm>
            <a:off x="7680960" y="3520440"/>
            <a:ext cx="3566160" cy="169164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Before: drafts saved server-side.</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Product decision: remove draft storage.</a:t>
            </a:r>
            <a:endParaRPr lang="en-US" sz="1500" dirty="0"/>
          </a:p>
          <a:p>
            <a:pPr indent="0" marL="0">
              <a:buNone/>
            </a:pPr>
            <a:r>
              <a:rPr lang="en-US" sz="1500" dirty="0">
                <a:solidFill>
                  <a:schemeClr val="bg1"/>
                </a:solidFill>
                <a:latin typeface="Cambria" pitchFamily="34" charset="0"/>
                <a:ea typeface="Cambria" pitchFamily="34" charset="-122"/>
                <a:cs typeface="Cambria" pitchFamily="34" charset="-120"/>
              </a:rPr>
              <a:t>After: browser-only drafts; approval saves a story.</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
        <p:nvSpPr>
          <p:cNvPr id="26" name="Review text 26"/>
          <p:cNvSpPr txBox="1"/>
          <p:nvPr/>
        </p:nvSpPr>
        <p:spPr>
          <a:xfrm>
            <a:off x="7680960" y="5376672"/>
            <a:ext cx="3566160" cy="228600"/>
          </a:xfrm>
          <a:prstGeom prst="rect">
            <a:avLst/>
          </a:prstGeom>
          <a:noFill/>
          <a:ln>
            <a:noFill/>
          </a:ln>
        </p:spPr>
        <p:txBody>
          <a:bodyPr wrap="square" lIns="0" tIns="0" rIns="0" bIns="0" anchor="t"/>
          <a:lstStyle/>
          <a:p>
            <a:pPr algn="l">
              <a:buNone/>
            </a:pPr>
            <a:r>
              <a:rPr lang="en-US" sz="1100" b="1">
                <a:solidFill>
                  <a:schemeClr val="accent2"/>
                </a:solidFill>
              </a:rPr>
              <a:t>THE RULE</a:t>
            </a:r>
            <a:endParaRPr lang="en-US" sz="1100"/>
          </a:p>
        </p:txBody>
      </p:sp>
      <p:sp>
        <p:nvSpPr>
          <p:cNvPr id="27" name="Review text 27"/>
          <p:cNvSpPr txBox="1"/>
          <p:nvPr/>
        </p:nvSpPr>
        <p:spPr>
          <a:xfrm>
            <a:off x="7680960" y="5623560"/>
            <a:ext cx="3566160" cy="457200"/>
          </a:xfrm>
          <a:prstGeom prst="rect">
            <a:avLst/>
          </a:prstGeom>
          <a:noFill/>
          <a:ln>
            <a:noFill/>
          </a:ln>
        </p:spPr>
        <p:txBody>
          <a:bodyPr wrap="square" lIns="0" tIns="0" rIns="0" bIns="0" anchor="t"/>
          <a:lstStyle/>
          <a:p>
            <a:pPr algn="l">
              <a:buNone/>
            </a:pPr>
            <a:r>
              <a:rPr lang="en-US" sz="1600" b="1">
                <a:solidFill>
                  <a:schemeClr val="bg1"/>
                </a:solidFill>
              </a:rPr>
              <a:t>AI assists. I verify and own every merge.</a:t>
            </a:r>
            <a:endParaRPr 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Delivered capabilities, evidence and open gaps</a:t>
            </a:r>
            <a:endParaRPr lang="en-US" sz="3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
        <p:nvSpPr>
          <p:cNvPr id="26" name="Review text 26"/>
          <p:cNvSpPr txBox="1"/>
          <p:nvPr/>
        </p:nvSpPr>
        <p:spPr>
          <a:xfrm>
            <a:off x="731520" y="1444752"/>
            <a:ext cx="2011680" cy="274320"/>
          </a:xfrm>
          <a:prstGeom prst="rect">
            <a:avLst/>
          </a:prstGeom>
          <a:noFill/>
          <a:ln>
            <a:noFill/>
          </a:ln>
        </p:spPr>
        <p:txBody>
          <a:bodyPr wrap="square" lIns="0" tIns="0" rIns="0" bIns="0" anchor="t"/>
          <a:lstStyle/>
          <a:p>
            <a:pPr algn="l">
              <a:buNone/>
            </a:pPr>
            <a:r>
              <a:rPr lang="en-US" sz="1300" b="1">
                <a:solidFill>
                  <a:schemeClr val="accent1"/>
                </a:solidFill>
              </a:rPr>
              <a:t>OBJECTIVE</a:t>
            </a:r>
            <a:endParaRPr lang="en-US" sz="1300"/>
          </a:p>
        </p:txBody>
      </p:sp>
      <p:sp>
        <p:nvSpPr>
          <p:cNvPr id="27" name="Review text 27"/>
          <p:cNvSpPr txBox="1"/>
          <p:nvPr/>
        </p:nvSpPr>
        <p:spPr>
          <a:xfrm>
            <a:off x="2926080" y="1444752"/>
            <a:ext cx="3337560" cy="274320"/>
          </a:xfrm>
          <a:prstGeom prst="rect">
            <a:avLst/>
          </a:prstGeom>
          <a:noFill/>
          <a:ln>
            <a:noFill/>
          </a:ln>
        </p:spPr>
        <p:txBody>
          <a:bodyPr wrap="square" lIns="0" tIns="0" rIns="0" bIns="0" anchor="t"/>
          <a:lstStyle/>
          <a:p>
            <a:pPr algn="l">
              <a:buNone/>
            </a:pPr>
            <a:r>
              <a:rPr lang="en-US" sz="1300" b="1">
                <a:solidFill>
                  <a:schemeClr val="accent1"/>
                </a:solidFill>
              </a:rPr>
              <a:t>DELIVERED CAPABILITY</a:t>
            </a:r>
            <a:endParaRPr lang="en-US" sz="1300"/>
          </a:p>
        </p:txBody>
      </p:sp>
      <p:sp>
        <p:nvSpPr>
          <p:cNvPr id="28" name="Review text 28"/>
          <p:cNvSpPr txBox="1"/>
          <p:nvPr/>
        </p:nvSpPr>
        <p:spPr>
          <a:xfrm>
            <a:off x="6537960" y="1444752"/>
            <a:ext cx="4800600" cy="274320"/>
          </a:xfrm>
          <a:prstGeom prst="rect">
            <a:avLst/>
          </a:prstGeom>
          <a:noFill/>
          <a:ln>
            <a:noFill/>
          </a:ln>
        </p:spPr>
        <p:txBody>
          <a:bodyPr wrap="square" lIns="0" tIns="0" rIns="0" bIns="0" anchor="t"/>
          <a:lstStyle/>
          <a:p>
            <a:pPr algn="l">
              <a:buNone/>
            </a:pPr>
            <a:r>
              <a:rPr lang="en-US" sz="1300" b="1">
                <a:solidFill>
                  <a:schemeClr val="accent1"/>
                </a:solidFill>
              </a:rPr>
              <a:t>EVIDENCE / GAP</a:t>
            </a:r>
            <a:endParaRPr lang="en-US" sz="1300"/>
          </a:p>
        </p:txBody>
      </p:sp>
      <p:sp>
        <p:nvSpPr>
          <p:cNvPr id="29" name="Review panel 29"/>
          <p:cNvSpPr/>
          <p:nvPr/>
        </p:nvSpPr>
        <p:spPr>
          <a:xfrm>
            <a:off x="548640" y="1847088"/>
            <a:ext cx="11064240" cy="859536"/>
          </a:xfrm>
          <a:prstGeom prst="roundRect">
            <a:avLst>
              <a:gd name="adj" fmla="val 4500"/>
            </a:avLst>
          </a:prstGeom>
          <a:solidFill>
            <a:schemeClr val="bg2"/>
          </a:solidFill>
          <a:ln w="12700">
            <a:solidFill>
              <a:srgbClr val="D6E5FB"/>
            </a:solidFill>
          </a:ln>
        </p:spPr>
      </p:sp>
      <p:sp>
        <p:nvSpPr>
          <p:cNvPr id="30" name="Review text 30"/>
          <p:cNvSpPr txBox="1"/>
          <p:nvPr/>
        </p:nvSpPr>
        <p:spPr>
          <a:xfrm>
            <a:off x="731520" y="1938528"/>
            <a:ext cx="2011680" cy="658368"/>
          </a:xfrm>
          <a:prstGeom prst="rect">
            <a:avLst/>
          </a:prstGeom>
          <a:noFill/>
          <a:ln>
            <a:noFill/>
          </a:ln>
        </p:spPr>
        <p:txBody>
          <a:bodyPr wrap="square" lIns="0" tIns="0" rIns="0" bIns="0" anchor="t"/>
          <a:lstStyle/>
          <a:p>
            <a:pPr algn="l">
              <a:buNone/>
            </a:pPr>
            <a:r>
              <a:rPr lang="en-US" sz="1500" b="1">
                <a:solidFill>
                  <a:schemeClr val="tx1"/>
                </a:solidFill>
              </a:rPr>
              <a:t>Human-controlled requirements</a:t>
            </a:r>
            <a:endParaRPr lang="en-US" sz="1500"/>
          </a:p>
        </p:txBody>
      </p:sp>
      <p:sp>
        <p:nvSpPr>
          <p:cNvPr id="31" name="Review text 31"/>
          <p:cNvSpPr txBox="1"/>
          <p:nvPr/>
        </p:nvSpPr>
        <p:spPr>
          <a:xfrm>
            <a:off x="2926080" y="1938528"/>
            <a:ext cx="3337560" cy="658368"/>
          </a:xfrm>
          <a:prstGeom prst="rect">
            <a:avLst/>
          </a:prstGeom>
          <a:noFill/>
          <a:ln>
            <a:noFill/>
          </a:ln>
        </p:spPr>
        <p:txBody>
          <a:bodyPr wrap="square" lIns="0" tIns="0" rIns="0" bIns="0" anchor="t"/>
          <a:lstStyle/>
          <a:p>
            <a:pPr algn="l">
              <a:buNone/>
            </a:pPr>
            <a:r>
              <a:rPr lang="en-US" sz="1500" b="0">
                <a:solidFill>
                  <a:schemeClr val="tx1"/>
                </a:solidFill>
              </a:rPr>
              <a:t>Notes → AI draft → approval → backlog</a:t>
            </a:r>
            <a:endParaRPr lang="en-US" sz="1500"/>
          </a:p>
        </p:txBody>
      </p:sp>
      <p:sp>
        <p:nvSpPr>
          <p:cNvPr id="32" name="Review text 32"/>
          <p:cNvSpPr txBox="1"/>
          <p:nvPr/>
        </p:nvSpPr>
        <p:spPr>
          <a:xfrm>
            <a:off x="6537960" y="1938528"/>
            <a:ext cx="4800600" cy="658368"/>
          </a:xfrm>
          <a:prstGeom prst="rect">
            <a:avLst/>
          </a:prstGeom>
          <a:noFill/>
          <a:ln>
            <a:noFill/>
          </a:ln>
        </p:spPr>
        <p:txBody>
          <a:bodyPr wrap="square" lIns="0" tIns="0" rIns="0" bIns="0" anchor="t"/>
          <a:lstStyle/>
          <a:p>
            <a:pPr algn="l">
              <a:buNone/>
            </a:pPr>
            <a:r>
              <a:rPr lang="en-US" sz="1500" b="0">
                <a:solidFill>
                  <a:schemeClr val="accent6"/>
                </a:solidFill>
              </a:rPr>
              <a:t>Use cases + approval tests exist. Quality and time gains are unmeasured.</a:t>
            </a:r>
            <a:endParaRPr lang="en-US" sz="1500"/>
          </a:p>
        </p:txBody>
      </p:sp>
      <p:sp>
        <p:nvSpPr>
          <p:cNvPr id="33" name="Review panel 33"/>
          <p:cNvSpPr/>
          <p:nvPr/>
        </p:nvSpPr>
        <p:spPr>
          <a:xfrm>
            <a:off x="548640" y="2798064"/>
            <a:ext cx="11064240" cy="859536"/>
          </a:xfrm>
          <a:prstGeom prst="roundRect">
            <a:avLst>
              <a:gd name="adj" fmla="val 4500"/>
            </a:avLst>
          </a:prstGeom>
          <a:solidFill>
            <a:schemeClr val="bg1"/>
          </a:solidFill>
          <a:ln w="12700">
            <a:solidFill>
              <a:srgbClr val="D6E5FB"/>
            </a:solidFill>
          </a:ln>
        </p:spPr>
      </p:sp>
      <p:sp>
        <p:nvSpPr>
          <p:cNvPr id="34" name="Review text 34"/>
          <p:cNvSpPr txBox="1"/>
          <p:nvPr/>
        </p:nvSpPr>
        <p:spPr>
          <a:xfrm>
            <a:off x="731520" y="2889504"/>
            <a:ext cx="2011680" cy="658368"/>
          </a:xfrm>
          <a:prstGeom prst="rect">
            <a:avLst/>
          </a:prstGeom>
          <a:noFill/>
          <a:ln>
            <a:noFill/>
          </a:ln>
        </p:spPr>
        <p:txBody>
          <a:bodyPr wrap="square" lIns="0" tIns="0" rIns="0" bIns="0" anchor="t"/>
          <a:lstStyle/>
          <a:p>
            <a:pPr algn="l">
              <a:buNone/>
            </a:pPr>
            <a:r>
              <a:rPr lang="en-US" sz="1500" b="1">
                <a:solidFill>
                  <a:schemeClr val="tx1"/>
                </a:solidFill>
              </a:rPr>
              <a:t>Controlled client sharing</a:t>
            </a:r>
            <a:endParaRPr lang="en-US" sz="1500"/>
          </a:p>
        </p:txBody>
      </p:sp>
      <p:sp>
        <p:nvSpPr>
          <p:cNvPr id="35" name="Review text 35"/>
          <p:cNvSpPr txBox="1"/>
          <p:nvPr/>
        </p:nvSpPr>
        <p:spPr>
          <a:xfrm>
            <a:off x="2926080" y="2889504"/>
            <a:ext cx="3337560" cy="658368"/>
          </a:xfrm>
          <a:prstGeom prst="rect">
            <a:avLst/>
          </a:prstGeom>
          <a:noFill/>
          <a:ln>
            <a:noFill/>
          </a:ln>
        </p:spPr>
        <p:txBody>
          <a:bodyPr wrap="square" lIns="0" tIns="0" rIns="0" bIns="0" anchor="t"/>
          <a:lstStyle/>
          <a:p>
            <a:pPr algn="l">
              <a:buNone/>
            </a:pPr>
            <a:r>
              <a:rPr lang="en-US" sz="1500" b="0">
                <a:solidFill>
                  <a:schemeClr val="tx1"/>
                </a:solidFill>
              </a:rPr>
              <a:t>Project access code + read-only approved stories</a:t>
            </a:r>
            <a:endParaRPr lang="en-US" sz="1500"/>
          </a:p>
        </p:txBody>
      </p:sp>
      <p:sp>
        <p:nvSpPr>
          <p:cNvPr id="36" name="Review text 36"/>
          <p:cNvSpPr txBox="1"/>
          <p:nvPr/>
        </p:nvSpPr>
        <p:spPr>
          <a:xfrm>
            <a:off x="6537960" y="2889504"/>
            <a:ext cx="4800600" cy="658368"/>
          </a:xfrm>
          <a:prstGeom prst="rect">
            <a:avLst/>
          </a:prstGeom>
          <a:noFill/>
          <a:ln>
            <a:noFill/>
          </a:ln>
        </p:spPr>
        <p:txBody>
          <a:bodyPr wrap="square" lIns="0" tIns="0" rIns="0" bIns="0" anchor="t"/>
          <a:lstStyle/>
          <a:p>
            <a:pPr algn="l">
              <a:buNone/>
            </a:pPr>
            <a:r>
              <a:rPr lang="en-US" sz="1500" b="0">
                <a:solidFill>
                  <a:schemeClr val="accent6"/>
                </a:solidFill>
              </a:rPr>
              <a:t>Public response + isolation tests exist. Shared codes lack individual auditing.</a:t>
            </a:r>
            <a:endParaRPr lang="en-US" sz="1500"/>
          </a:p>
        </p:txBody>
      </p:sp>
      <p:sp>
        <p:nvSpPr>
          <p:cNvPr id="37" name="Review panel 37"/>
          <p:cNvSpPr/>
          <p:nvPr/>
        </p:nvSpPr>
        <p:spPr>
          <a:xfrm>
            <a:off x="548640" y="3749040"/>
            <a:ext cx="11064240" cy="859536"/>
          </a:xfrm>
          <a:prstGeom prst="roundRect">
            <a:avLst>
              <a:gd name="adj" fmla="val 4500"/>
            </a:avLst>
          </a:prstGeom>
          <a:solidFill>
            <a:schemeClr val="bg2"/>
          </a:solidFill>
          <a:ln w="12700">
            <a:solidFill>
              <a:srgbClr val="D6E5FB"/>
            </a:solidFill>
          </a:ln>
        </p:spPr>
      </p:sp>
      <p:sp>
        <p:nvSpPr>
          <p:cNvPr id="38" name="Review text 38"/>
          <p:cNvSpPr txBox="1"/>
          <p:nvPr/>
        </p:nvSpPr>
        <p:spPr>
          <a:xfrm>
            <a:off x="731520" y="3840480"/>
            <a:ext cx="2011680" cy="658368"/>
          </a:xfrm>
          <a:prstGeom prst="rect">
            <a:avLst/>
          </a:prstGeom>
          <a:noFill/>
          <a:ln>
            <a:noFill/>
          </a:ln>
        </p:spPr>
        <p:txBody>
          <a:bodyPr wrap="square" lIns="0" tIns="0" rIns="0" bIns="0" anchor="t"/>
          <a:lstStyle/>
          <a:p>
            <a:pPr algn="l">
              <a:buNone/>
            </a:pPr>
            <a:r>
              <a:rPr lang="en-US" sz="1500" b="1">
                <a:solidFill>
                  <a:schemeClr val="tx1"/>
                </a:solidFill>
              </a:rPr>
              <a:t>Inspectable engineering</a:t>
            </a:r>
            <a:endParaRPr lang="en-US" sz="1500"/>
          </a:p>
        </p:txBody>
      </p:sp>
      <p:sp>
        <p:nvSpPr>
          <p:cNvPr id="39" name="Review text 39"/>
          <p:cNvSpPr txBox="1"/>
          <p:nvPr/>
        </p:nvSpPr>
        <p:spPr>
          <a:xfrm>
            <a:off x="2926080" y="3840480"/>
            <a:ext cx="3337560" cy="658368"/>
          </a:xfrm>
          <a:prstGeom prst="rect">
            <a:avLst/>
          </a:prstGeom>
          <a:noFill/>
          <a:ln>
            <a:noFill/>
          </a:ln>
        </p:spPr>
        <p:txBody>
          <a:bodyPr wrap="square" lIns="0" tIns="0" rIns="0" bIns="0" anchor="t"/>
          <a:lstStyle/>
          <a:p>
            <a:pPr algn="l">
              <a:buNone/>
            </a:pPr>
            <a:r>
              <a:rPr lang="en-US" sz="1500" b="0">
                <a:solidFill>
                  <a:schemeClr val="tx1"/>
                </a:solidFill>
              </a:rPr>
              <a:t>Four repositories, 24 ADRs, CI and Terraform</a:t>
            </a:r>
            <a:endParaRPr lang="en-US" sz="1500"/>
          </a:p>
        </p:txBody>
      </p:sp>
      <p:sp>
        <p:nvSpPr>
          <p:cNvPr id="40" name="Review text 40"/>
          <p:cNvSpPr txBox="1"/>
          <p:nvPr/>
        </p:nvSpPr>
        <p:spPr>
          <a:xfrm>
            <a:off x="6537960" y="3840480"/>
            <a:ext cx="4800600" cy="658368"/>
          </a:xfrm>
          <a:prstGeom prst="rect">
            <a:avLst/>
          </a:prstGeom>
          <a:noFill/>
          <a:ln>
            <a:noFill/>
          </a:ln>
        </p:spPr>
        <p:txBody>
          <a:bodyPr wrap="square" lIns="0" tIns="0" rIns="0" bIns="0" anchor="t"/>
          <a:lstStyle/>
          <a:p>
            <a:pPr algn="l">
              <a:buNone/>
            </a:pPr>
            <a:r>
              <a:rPr lang="en-US" sz="1500" b="0">
                <a:solidFill>
                  <a:schemeClr val="accent6"/>
                </a:solidFill>
              </a:rPr>
              <a:t>Source and verification artifacts are available. CI coverage has documented gaps.</a:t>
            </a:r>
            <a:endParaRPr lang="en-US" sz="1500"/>
          </a:p>
        </p:txBody>
      </p:sp>
      <p:sp>
        <p:nvSpPr>
          <p:cNvPr id="41" name="Review text 41"/>
          <p:cNvSpPr txBox="1"/>
          <p:nvPr/>
        </p:nvSpPr>
        <p:spPr>
          <a:xfrm>
            <a:off x="731520" y="4892040"/>
            <a:ext cx="7315200" cy="320040"/>
          </a:xfrm>
          <a:prstGeom prst="rect">
            <a:avLst/>
          </a:prstGeom>
          <a:noFill/>
          <a:ln>
            <a:noFill/>
          </a:ln>
        </p:spPr>
        <p:txBody>
          <a:bodyPr wrap="square" lIns="0" tIns="0" rIns="0" bIns="0" anchor="t"/>
          <a:lstStyle/>
          <a:p>
            <a:pPr algn="l">
              <a:buNone/>
            </a:pPr>
            <a:r>
              <a:rPr lang="en-US" sz="1300" b="0">
                <a:solidFill>
                  <a:schemeClr val="accent6"/>
                </a:solidFill>
              </a:rPr>
              <a:t>Implementation and test artifacts are not a fresh passing test run.</a:t>
            </a:r>
            <a:endParaRPr lang="en-US" sz="1300"/>
          </a:p>
        </p:txBody>
      </p:sp>
      <p:sp>
        <p:nvSpPr>
          <p:cNvPr id="42" name="Review panel 42"/>
          <p:cNvSpPr/>
          <p:nvPr/>
        </p:nvSpPr>
        <p:spPr>
          <a:xfrm>
            <a:off x="548640" y="5376672"/>
            <a:ext cx="11064240" cy="777240"/>
          </a:xfrm>
          <a:prstGeom prst="roundRect">
            <a:avLst>
              <a:gd name="adj" fmla="val 4500"/>
            </a:avLst>
          </a:prstGeom>
          <a:solidFill>
            <a:schemeClr val="bg2"/>
          </a:solidFill>
          <a:ln w="12700">
            <a:solidFill>
              <a:srgbClr val="D6E5FB"/>
            </a:solidFill>
          </a:ln>
        </p:spPr>
      </p:sp>
      <p:sp>
        <p:nvSpPr>
          <p:cNvPr id="43" name="Review text 43"/>
          <p:cNvSpPr txBox="1"/>
          <p:nvPr/>
        </p:nvSpPr>
        <p:spPr>
          <a:xfrm>
            <a:off x="777240" y="5532120"/>
            <a:ext cx="10607040" cy="502920"/>
          </a:xfrm>
          <a:prstGeom prst="rect">
            <a:avLst/>
          </a:prstGeom>
          <a:noFill/>
          <a:ln>
            <a:noFill/>
          </a:ln>
        </p:spPr>
        <p:txBody>
          <a:bodyPr wrap="square" lIns="0" tIns="0" rIns="0" bIns="0" anchor="t"/>
          <a:lstStyle/>
          <a:p>
            <a:pPr algn="l">
              <a:buNone/>
            </a:pPr>
            <a:r>
              <a:rPr lang="en-US" sz="1400" b="0">
                <a:solidFill>
                  <a:schemeClr val="tx1"/>
                </a:solidFill>
              </a:rPr>
              <a:t>Open risks: no user study · no automated DB backups or failover · origin certificate not validated · AI can be wrong</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822960"/>
            <a:ext cx="5486400" cy="86868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640080" y="2011680"/>
            <a:ext cx="5486400" cy="320040"/>
          </a:xfrm>
          <a:prstGeom prst="rect">
            <a:avLst/>
          </a:prstGeom>
          <a:noFill/>
          <a:ln/>
        </p:spPr>
        <p:txBody>
          <a:bodyPr wrap="square" lIns="0" tIns="0" rIns="0" bIns="0" rtlCol="0" anchor="t"/>
          <a:lstStyle/>
          <a:p>
            <a:pPr indent="0" marL="0">
              <a:buNone/>
            </a:pPr>
            <a:r>
              <a:rPr lang="en-US" sz="1200" b="1" spc="200" kern="0" dirty="0">
                <a:solidFill>
                  <a:schemeClr val="accent2"/>
                </a:solidFill>
              </a:rPr>
              <a:t>NEXT STEPS</a:t>
            </a:r>
            <a:endParaRPr lang="en-US" sz="1200" dirty="0"/>
          </a:p>
        </p:txBody>
      </p:sp>
      <p:sp>
        <p:nvSpPr>
          <p:cNvPr id="4" name="Shape 2"/>
          <p:cNvSpPr/>
          <p:nvPr/>
        </p:nvSpPr>
        <p:spPr>
          <a:xfrm>
            <a:off x="640080" y="2596896"/>
            <a:ext cx="146304" cy="146304"/>
          </a:xfrm>
          <a:prstGeom prst="ellipse">
            <a:avLst/>
          </a:prstGeom>
          <a:solidFill>
            <a:schemeClr val="accent2"/>
          </a:solidFill>
          <a:ln w="12700">
            <a:solidFill>
              <a:schemeClr val="accent2"/>
            </a:solidFill>
            <a:prstDash val="solid"/>
          </a:ln>
        </p:spPr>
      </p:sp>
      <p:sp>
        <p:nvSpPr>
          <p:cNvPr id="5" name="Text 3"/>
          <p:cNvSpPr txBox="1"/>
          <p:nvPr/>
        </p:nvSpPr>
        <p:spPr>
          <a:xfrm>
            <a:off x="960120" y="2514600"/>
            <a:ext cx="5303520" cy="411480"/>
          </a:xfrm>
          <a:prstGeom prst="rect">
            <a:avLst/>
          </a:prstGeom>
          <a:noFill/>
          <a:ln/>
        </p:spPr>
        <p:txBody>
          <a:bodyPr wrap="square" lIns="0" tIns="0" rIns="0" bIns="0" rtlCol="0" anchor="t"/>
          <a:lstStyle/>
          <a:p>
            <a:pPr indent="0" marL="0">
              <a:buNone/>
            </a:pPr>
            <a:r>
              <a:rPr lang="en-US" sz="1700" dirty="0">
                <a:solidFill>
                  <a:schemeClr val="bg1"/>
                </a:solidFill>
              </a:rPr>
              <a:t>Evaluate with real freelancers: time saved and clarity</a:t>
            </a:r>
            <a:endParaRPr lang="en-US" sz="1700" dirty="0"/>
          </a:p>
        </p:txBody>
      </p:sp>
      <p:sp>
        <p:nvSpPr>
          <p:cNvPr id="6" name="Shape 4"/>
          <p:cNvSpPr/>
          <p:nvPr/>
        </p:nvSpPr>
        <p:spPr>
          <a:xfrm>
            <a:off x="640080" y="3236976"/>
            <a:ext cx="146304" cy="146304"/>
          </a:xfrm>
          <a:prstGeom prst="ellipse">
            <a:avLst/>
          </a:prstGeom>
          <a:solidFill>
            <a:schemeClr val="accent2"/>
          </a:solidFill>
          <a:ln w="12700">
            <a:solidFill>
              <a:schemeClr val="accent2"/>
            </a:solidFill>
            <a:prstDash val="solid"/>
          </a:ln>
        </p:spPr>
      </p:sp>
      <p:sp>
        <p:nvSpPr>
          <p:cNvPr id="7" name="Text 5"/>
          <p:cNvSpPr txBox="1"/>
          <p:nvPr/>
        </p:nvSpPr>
        <p:spPr>
          <a:xfrm>
            <a:off x="960120" y="3154680"/>
            <a:ext cx="5303520" cy="411480"/>
          </a:xfrm>
          <a:prstGeom prst="rect">
            <a:avLst/>
          </a:prstGeom>
          <a:noFill/>
          <a:ln/>
        </p:spPr>
        <p:txBody>
          <a:bodyPr wrap="square" lIns="0" tIns="0" rIns="0" bIns="0" rtlCol="0" anchor="t"/>
          <a:lstStyle/>
          <a:p>
            <a:pPr indent="0" marL="0">
              <a:buNone/>
            </a:pPr>
            <a:r>
              <a:rPr lang="en-US" sz="1700" dirty="0">
                <a:solidFill>
                  <a:schemeClr val="bg1"/>
                </a:solidFill>
              </a:rPr>
              <a:t>Automated database backups and strict origin TLS</a:t>
            </a:r>
            <a:endParaRPr lang="en-US" sz="1700" dirty="0"/>
          </a:p>
        </p:txBody>
      </p:sp>
      <p:sp>
        <p:nvSpPr>
          <p:cNvPr id="8" name="Shape 6"/>
          <p:cNvSpPr/>
          <p:nvPr/>
        </p:nvSpPr>
        <p:spPr>
          <a:xfrm>
            <a:off x="640080" y="3877056"/>
            <a:ext cx="146304" cy="146304"/>
          </a:xfrm>
          <a:prstGeom prst="ellipse">
            <a:avLst/>
          </a:prstGeom>
          <a:solidFill>
            <a:schemeClr val="accent2"/>
          </a:solidFill>
          <a:ln w="12700">
            <a:solidFill>
              <a:schemeClr val="accent2"/>
            </a:solidFill>
            <a:prstDash val="solid"/>
          </a:ln>
        </p:spPr>
      </p:sp>
      <p:sp>
        <p:nvSpPr>
          <p:cNvPr id="9" name="Text 7"/>
          <p:cNvSpPr txBox="1"/>
          <p:nvPr/>
        </p:nvSpPr>
        <p:spPr>
          <a:xfrm>
            <a:off x="960120" y="3794760"/>
            <a:ext cx="5303520" cy="411480"/>
          </a:xfrm>
          <a:prstGeom prst="rect">
            <a:avLst/>
          </a:prstGeom>
          <a:noFill/>
          <a:ln/>
        </p:spPr>
        <p:txBody>
          <a:bodyPr wrap="square" lIns="0" tIns="0" rIns="0" bIns="0" rtlCol="0" anchor="t"/>
          <a:lstStyle/>
          <a:p>
            <a:pPr indent="0" marL="0">
              <a:buNone/>
            </a:pPr>
            <a:r>
              <a:rPr lang="en-US" sz="1700" dirty="0">
                <a:solidFill>
                  <a:schemeClr val="bg1"/>
                </a:solidFill>
              </a:rPr>
              <a:t>Playwright end-to-end tests in CI</a:t>
            </a:r>
            <a:endParaRPr lang="en-US" sz="1700" dirty="0"/>
          </a:p>
        </p:txBody>
      </p:sp>
      <p:sp>
        <p:nvSpPr>
          <p:cNvPr id="10" name="Shape 8"/>
          <p:cNvSpPr/>
          <p:nvPr/>
        </p:nvSpPr>
        <p:spPr>
          <a:xfrm>
            <a:off x="640080" y="4517136"/>
            <a:ext cx="146304" cy="146304"/>
          </a:xfrm>
          <a:prstGeom prst="ellipse">
            <a:avLst/>
          </a:prstGeom>
          <a:solidFill>
            <a:schemeClr val="accent2"/>
          </a:solidFill>
          <a:ln w="12700">
            <a:solidFill>
              <a:schemeClr val="accent2"/>
            </a:solidFill>
            <a:prstDash val="solid"/>
          </a:ln>
        </p:spPr>
      </p:sp>
      <p:sp>
        <p:nvSpPr>
          <p:cNvPr id="11" name="Text 9"/>
          <p:cNvSpPr txBox="1"/>
          <p:nvPr/>
        </p:nvSpPr>
        <p:spPr>
          <a:xfrm>
            <a:off x="960120" y="4434840"/>
            <a:ext cx="5303520" cy="411480"/>
          </a:xfrm>
          <a:prstGeom prst="rect">
            <a:avLst/>
          </a:prstGeom>
          <a:noFill/>
          <a:ln/>
        </p:spPr>
        <p:txBody>
          <a:bodyPr wrap="square" lIns="0" tIns="0" rIns="0" bIns="0" rtlCol="0" anchor="t"/>
          <a:lstStyle/>
          <a:p>
            <a:pPr indent="0" marL="0">
              <a:buNone/>
            </a:pPr>
            <a:r>
              <a:rPr lang="en-US" sz="1700" dirty="0">
                <a:solidFill>
                  <a:schemeClr val="bg1"/>
                </a:solidFill>
              </a:rPr>
              <a:t>Manual story ordering and per-stakeholder review access</a:t>
            </a:r>
            <a:endParaRPr lang="en-US" sz="1700" dirty="0"/>
          </a:p>
        </p:txBody>
      </p:sp>
      <p:sp>
        <p:nvSpPr>
          <p:cNvPr id="12" name="links"/>
          <p:cNvSpPr/>
          <p:nvPr/>
        </p:nvSpPr>
        <p:spPr>
          <a:xfrm>
            <a:off x="6766560" y="822960"/>
            <a:ext cx="4846320" cy="5120640"/>
          </a:xfrm>
          <a:prstGeom prst="roundRect">
            <a:avLst>
              <a:gd name="adj" fmla="val 2264"/>
            </a:avLst>
          </a:prstGeom>
          <a:solidFill>
            <a:srgbClr val="1A2D47"/>
          </a:solidFill>
          <a:ln w="12700">
            <a:solidFill>
              <a:srgbClr val="1A2D47"/>
            </a:solidFill>
            <a:prstDash val="solid"/>
          </a:ln>
        </p:spPr>
      </p:sp>
      <p:sp>
        <p:nvSpPr>
          <p:cNvPr id="13" name="Shape 11"/>
          <p:cNvSpPr/>
          <p:nvPr/>
        </p:nvSpPr>
        <p:spPr>
          <a:xfrm>
            <a:off x="7132320" y="1188720"/>
            <a:ext cx="731520" cy="731520"/>
          </a:xfrm>
          <a:prstGeom prst="ellipse">
            <a:avLst/>
          </a:prstGeom>
          <a:solidFill>
            <a:schemeClr val="bg1"/>
          </a:solidFill>
          <a:ln w="12700">
            <a:solidFill>
              <a:schemeClr val="bg1"/>
            </a:solidFill>
            <a:prstDash val="solid"/>
          </a:ln>
        </p:spPr>
      </p:sp>
      <p:pic>
        <p:nvPicPr>
          <p:cNvPr id="14" name="Image 0" descr="/private/tmp/claude-501/-Users-alonso-Documents-Workspace-Alonsovndev-OpenProjectsHub/19cdd931-d4c3-4bf1-911a-d568f533b6da/scratchpad/deck/app-logo.png">    </p:cNvPr>
          <p:cNvPicPr>
            <a:picLocks noChangeAspect="1"/>
          </p:cNvPicPr>
          <p:nvPr/>
        </p:nvPicPr>
        <p:blipFill>
          <a:blip r:embed="rId1"/>
          <a:stretch>
            <a:fillRect/>
          </a:stretch>
        </p:blipFill>
        <p:spPr>
          <a:xfrm>
            <a:off x="7232904" y="1289304"/>
            <a:ext cx="530352" cy="530352"/>
          </a:xfrm>
          <a:prstGeom prst="rect">
            <a:avLst/>
          </a:prstGeom>
        </p:spPr>
      </p:pic>
      <p:sp>
        <p:nvSpPr>
          <p:cNvPr id="15" name="Text 12"/>
          <p:cNvSpPr txBox="1"/>
          <p:nvPr/>
        </p:nvSpPr>
        <p:spPr>
          <a:xfrm>
            <a:off x="7132320" y="2331720"/>
            <a:ext cx="4114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TRY IT</a:t>
            </a:r>
            <a:endParaRPr lang="en-US" sz="1200" dirty="0"/>
          </a:p>
        </p:txBody>
      </p:sp>
      <p:sp>
        <p:nvSpPr>
          <p:cNvPr id="16" name="Text 13"/>
          <p:cNvSpPr txBox="1"/>
          <p:nvPr/>
        </p:nvSpPr>
        <p:spPr>
          <a:xfrm>
            <a:off x="7132320" y="2651760"/>
            <a:ext cx="4114800" cy="457200"/>
          </a:xfrm>
          <a:prstGeom prst="rect">
            <a:avLst/>
          </a:prstGeom>
          <a:noFill/>
          <a:ln/>
        </p:spPr>
        <p:txBody>
          <a:bodyPr wrap="square" lIns="0" tIns="0" rIns="0" bIns="0" rtlCol="0" anchor="t"/>
          <a:lstStyle/>
          <a:p>
            <a:pPr indent="0" marL="0">
              <a:buNone/>
            </a:pPr>
            <a:r>
              <a:rPr lang="en-US" sz="2000" b="1"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oph.alonsovndev.com</a:t>
            </a:r>
            <a:endParaRPr lang="en-US" sz="2000" dirty="0"/>
          </a:p>
        </p:txBody>
      </p:sp>
      <p:sp>
        <p:nvSpPr>
          <p:cNvPr id="17" name="Text 14"/>
          <p:cNvSpPr txBox="1"/>
          <p:nvPr/>
        </p:nvSpPr>
        <p:spPr>
          <a:xfrm>
            <a:off x="7132320" y="3474720"/>
            <a:ext cx="4114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DOCUMENTATION</a:t>
            </a:r>
            <a:endParaRPr lang="en-US" sz="1200" dirty="0"/>
          </a:p>
        </p:txBody>
      </p:sp>
      <p:sp>
        <p:nvSpPr>
          <p:cNvPr id="18" name="Text 15"/>
          <p:cNvSpPr txBox="1"/>
          <p:nvPr/>
        </p:nvSpPr>
        <p:spPr>
          <a:xfrm>
            <a:off x="7132320" y="3794760"/>
            <a:ext cx="4114800" cy="457200"/>
          </a:xfrm>
          <a:prstGeom prst="rect">
            <a:avLst/>
          </a:prstGeom>
          <a:noFill/>
          <a:ln/>
        </p:spPr>
        <p:txBody>
          <a:bodyPr wrap="square" lIns="0" tIns="0" rIns="0" bIns="0" rtlCol="0" anchor="t"/>
          <a:lstStyle/>
          <a:p>
            <a:pPr indent="0" marL="0">
              <a:buNone/>
            </a:pPr>
            <a:r>
              <a:rPr lang="en-US" sz="2000" b="1"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oph-docs.alonsovndev.com</a:t>
            </a:r>
            <a:endParaRPr lang="en-US" sz="2000" dirty="0"/>
          </a:p>
        </p:txBody>
      </p:sp>
      <p:sp>
        <p:nvSpPr>
          <p:cNvPr id="19" name="Text 16"/>
          <p:cNvSpPr txBox="1"/>
          <p:nvPr/>
        </p:nvSpPr>
        <p:spPr>
          <a:xfrm>
            <a:off x="7132320" y="4617720"/>
            <a:ext cx="4114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PROJECT REPOSITORIES</a:t>
            </a:r>
            <a:endParaRPr lang="en-US" sz="1200" dirty="0"/>
          </a:p>
        </p:txBody>
      </p:sp>
      <p:sp>
        <p:nvSpPr>
          <p:cNvPr id="20" name="Text 17"/>
          <p:cNvSpPr txBox="1"/>
          <p:nvPr/>
        </p:nvSpPr>
        <p:spPr>
          <a:xfrm>
            <a:off x="7132320" y="4937760"/>
            <a:ext cx="1828800" cy="411480"/>
          </a:xfrm>
          <a:prstGeom prst="rect">
            <a:avLst/>
          </a:prstGeom>
          <a:noFill/>
          <a:ln/>
        </p:spPr>
        <p:txBody>
          <a:bodyPr wrap="square" lIns="0" tIns="0" rIns="0" bIns="0" rtlCol="0" anchor="t"/>
          <a:lstStyle/>
          <a:p>
            <a:pPr indent="0" marL="0">
              <a:buNone/>
            </a:pPr>
            <a:r>
              <a:rPr lang="en-US" sz="1800" b="1"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API</a:t>
            </a:r>
            <a:endParaRPr lang="en-US" sz="1800" dirty="0"/>
          </a:p>
        </p:txBody>
      </p:sp>
      <p:sp>
        <p:nvSpPr>
          <p:cNvPr id="21" name="Repository link web"/>
          <p:cNvSpPr txBox="1"/>
          <p:nvPr/>
        </p:nvSpPr>
        <p:spPr>
          <a:xfrm>
            <a:off x="9326880" y="4937760"/>
            <a:ext cx="1828800" cy="411480"/>
          </a:xfrm>
          <a:prstGeom prst="rect">
            <a:avLst/>
          </a:prstGeom>
          <a:noFill/>
          <a:ln/>
        </p:spPr>
        <p:txBody>
          <a:bodyPr wrap="square" lIns="0" tIns="0" rIns="0" bIns="0" rtlCol="0" anchor="t"/>
          <a:lstStyle/>
          <a:p>
            <a:pPr indent="0" marL="0">
              <a:buNone/>
            </a:pPr>
            <a:r>
              <a:rPr lang="en-US" sz="1800" b="1" u="sng" dirty="0">
                <a:solidFill>
                  <a:schemeClr val="bg1"/>
                </a:solidFill>
                <a:hlinkClick r:id="rId7" invalidUrl="" action="" tgtFrame="" tooltip="" history="1" highlightClick="0" endSnd="0">
                  <a:extLst>
                    <a:ext uri="{A12FA001-AC4F-418D-AE19-62706E023703}">
                      <ahyp:hlinkClr xmlns:ahyp="http://schemas.microsoft.com/office/drawing/2018/hyperlinkcolor" val="tx"/>
                    </a:ext>
                  </a:extLst>
                </a:hlinkClick>
              </a:rPr>
              <a:t>Web</a:t>
            </a:r>
            <a:endParaRPr lang="en-US" sz="1800" dirty="0"/>
          </a:p>
        </p:txBody>
      </p:sp>
      <p:sp>
        <p:nvSpPr>
          <p:cNvPr id="22" name="Repository link infra"/>
          <p:cNvSpPr txBox="1"/>
          <p:nvPr/>
        </p:nvSpPr>
        <p:spPr>
          <a:xfrm>
            <a:off x="7132320" y="5440680"/>
            <a:ext cx="1828800" cy="411480"/>
          </a:xfrm>
          <a:prstGeom prst="rect">
            <a:avLst/>
          </a:prstGeom>
          <a:noFill/>
          <a:ln/>
        </p:spPr>
        <p:txBody>
          <a:bodyPr wrap="square" lIns="0" tIns="0" rIns="0" bIns="0" rtlCol="0" anchor="t"/>
          <a:lstStyle/>
          <a:p>
            <a:pPr indent="0" marL="0">
              <a:buNone/>
            </a:pPr>
            <a:r>
              <a:rPr lang="en-US" sz="1800" b="1" u="sng" dirty="0">
                <a:solidFill>
                  <a:schemeClr val="bg1"/>
                </a:solidFill>
                <a:hlinkClick r:id="rId8" invalidUrl="" action="" tgtFrame="" tooltip="" history="1" highlightClick="0" endSnd="0">
                  <a:extLst>
                    <a:ext uri="{A12FA001-AC4F-418D-AE19-62706E023703}">
                      <ahyp:hlinkClr xmlns:ahyp="http://schemas.microsoft.com/office/drawing/2018/hyperlinkcolor" val="tx"/>
                    </a:ext>
                  </a:extLst>
                </a:hlinkClick>
              </a:rPr>
              <a:t>Infra</a:t>
            </a:r>
            <a:endParaRPr lang="en-US" sz="1800" dirty="0"/>
          </a:p>
        </p:txBody>
      </p:sp>
      <p:sp>
        <p:nvSpPr>
          <p:cNvPr id="23" name="Repository link docs"/>
          <p:cNvSpPr txBox="1"/>
          <p:nvPr/>
        </p:nvSpPr>
        <p:spPr>
          <a:xfrm>
            <a:off x="9326880" y="5440680"/>
            <a:ext cx="1828800" cy="411480"/>
          </a:xfrm>
          <a:prstGeom prst="rect">
            <a:avLst/>
          </a:prstGeom>
          <a:noFill/>
          <a:ln/>
        </p:spPr>
        <p:txBody>
          <a:bodyPr wrap="square" lIns="0" tIns="0" rIns="0" bIns="0" rtlCol="0" anchor="t"/>
          <a:lstStyle/>
          <a:p>
            <a:pPr indent="0" marL="0">
              <a:buNone/>
            </a:pPr>
            <a:r>
              <a:rPr lang="en-US" sz="1800" b="1" u="sng" dirty="0">
                <a:solidFill>
                  <a:schemeClr val="bg1"/>
                </a:solidFill>
                <a:hlinkClick r:id="rId9" invalidUrl="" action="" tgtFrame="" tooltip="" history="1" highlightClick="0" endSnd="0">
                  <a:extLst>
                    <a:ext uri="{A12FA001-AC4F-418D-AE19-62706E023703}">
                      <ahyp:hlinkClr xmlns:ahyp="http://schemas.microsoft.com/office/drawing/2018/hyperlinkcolor" val="tx"/>
                    </a:ext>
                  </a:extLst>
                </a:hlinkClick>
              </a:rPr>
              <a:t>Docs</a:t>
            </a:r>
            <a:endParaRPr lang="en-US" sz="1800" dirty="0"/>
          </a:p>
        </p:txBody>
      </p:sp>
    </p:spTree>
  </p:cSld>
  <p:clrMapOvr>
    <a:masterClrMapping/>
  </p:clrMapOvr>
</p:sld>
</file>

<file path=ppt/theme/theme1.xml><?xml version="1.0" encoding="utf-8"?>
<a:theme xmlns:a="http://schemas.openxmlformats.org/drawingml/2006/main" name="Open Projects Hub">
  <a:themeElements>
    <a:clrScheme name="Open Projects Hub">
      <a:dk1>
        <a:srgbClr val="1A1A1A"/>
      </a:dk1>
      <a:lt1>
        <a:srgbClr val="FFFFFF"/>
      </a:lt1>
      <a:dk2>
        <a:srgbClr val="0F1E33"/>
      </a:dk2>
      <a:lt2>
        <a:srgbClr val="F5F9FF"/>
      </a:lt2>
      <a:accent1>
        <a:srgbClr val="0057C2"/>
      </a:accent1>
      <a:accent2>
        <a:srgbClr val="7FB0EE"/>
      </a:accent2>
      <a:accent3>
        <a:srgbClr val="6E56CF"/>
      </a:accent3>
      <a:accent4>
        <a:srgbClr val="94702D"/>
      </a:accent4>
      <a:accent5>
        <a:srgbClr val="147743"/>
      </a:accent5>
      <a:accent6>
        <a:srgbClr val="5F5F5F"/>
      </a:accent6>
      <a:hlink>
        <a:srgbClr val="0057C2"/>
      </a:hlink>
      <a:folHlink>
        <a:srgbClr val="004DA8"/>
      </a:folHlink>
    </a:clrScheme>
    <a:fontScheme name="Open Projects Hu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Projects Hub — Master's final project</dc:title>
  <dc:subject>TFM presentation: implemented workflow, engineering decisions and evaluation limits</dc:subject>
  <dc:creator>Alonso Villanueva Naranjo</dc:creator>
  <cp:lastModifiedBy>Alonso Villanueva Naranjo</cp:lastModifiedBy>
  <cp:revision>1</cp:revision>
  <dcterms:created xsi:type="dcterms:W3CDTF">2026-10-20T06:22:49Z</dcterms:created>
  <dcterms:modified xsi:type="dcterms:W3CDTF">2026-10-20T14:13:59Z</dcterms:modified>
</cp:coreProperties>
</file>